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 Opening
Approximate timing: 0:35
We built the first version of the PharmAgentics synthetic data layer to support connected surveillance and forecast explanation—not unrelated CSV files. It covers two years of weekly observations, fourteen agent-visible tables, and three private evaluation tables. The important qualification is that this is a reproducible engineering simulator, not yet a real-data-calibrated pharmaceutical market. I'll explain the datasets, how the generator works, the controlled test events, what our research sources support, and how we move to a statistically defensible second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 Dataset inventory
Approximate timing: 0:45
All fourteen public CSVs are synthetic. Six foundational tables define fictional drugs, territories, payer plans, specialties, the competitor basket and the calendar. Four simulated commercial tables represent weekly prescription volumes, access status, promotion and inventory. The final four are derived views: market share, forecast versus actual, feed health and restatements. The prescription data drive surveillance; forecast and context support investigation. We keep three additional truth files private, containing clean counts, simulator components and the injected-event labels. That separation lets us test whether the agents discover events rather than simply read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 Generation pipeline
Approximate timing: 0:55
We generated the records with Python and NumPy using a fixed seed of seven. First we defined products, geography, insurance plans and specialty groups. We then modeled baseline prescribing activity using demand weights, trend, seasonality and holidays. Territory-level shocks and Gamma-Poisson sampling generated variable but nonnegative total prescription counts. NRx and NBRx were generated through conditional binomial sampling; NBRx remains a synthetic proxy rather than a real patient-lookback measure. We injected commercial events, then introduced feed defects, and exported linked tables with protected evaluation truth. The fixed seed supports reproducibility, but reproducibility alone does not establish statistical realism.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 Injected events and checks
Approximate timing: 0:55
We planted six commercial scenarios: an access restriction, competitor launch, inventory disruption, two promotion pullbacks, and competitive pressure overlapping one of those pullbacks. We separately made the observed feed imperfect by removing forty-four rows, adding fifteen duplicates, and recording a historical restatement. These cases test whether surveillance can distinguish genuine commercial movement from poor input data. Programmatic checks confirmed consistent prescription-count relationships, approximate market-share reconciliation, forecast actuals matching observed Rx, and seeded reproducibility. Those are engineering validation results—not evidence that market patterns match real prescriptions. We also need a distinct, labeled seasonality event for future agent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 Public data sources
Approximate timing: 0:45
Our public-source research found five calibration references. Medicaid State Drug Utilization Data offers quarterly prescriptions by state and NDC. Annual Medicare Part D data provide drug and geographic volumes, plus prescriber and specialty information. Monthly Part D formulary files contain coverage restrictions, and openFDA NDC supports drug-product identifiers. We consulted documentation but did not download and fit these numerical records into the current generator. Their reporting populations and frequencies also differ. Most importantly, observed quarterly or annual totals cannot reveal the actual weekly pattern or patient-history-defined NBRx.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 Calibration plan and next decisions
Approximate timing: 0:55
Our next step is an empirically calibrated v1, while keeping v0 available for engineering tests. First, select a real therapeutic class, competitive drug basket and population. Download and archive public extracts, documenting time periods and filters. Estimate observed volume, geography and variability separately for Medicaid and Medicare, then fit simulator parameters. For weekly values, preserve observed quarterly totals while testing alternative plausible intra-quarter allocations. Hold out some real observations to evaluate statistical fidelity, and only then test agent recovery on fresh hidden synthetic events. Today's decisions are the drug class, who owns source ingestion, and how we parallelize calibration with the existing pipeline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ata.medicaid.gov/dataset/61729e5a-7aa8-448c-8903-ba3e0cd0ea3c" TargetMode="External"/><Relationship Id="rId2" Type="http://schemas.openxmlformats.org/officeDocument/2006/relationships/hyperlink" Target="https://data.cms.gov/provider-summary-by-type-of-service/medicare-part-d-prescribers/medicare-part-d-prescribers-by-geography-and-drug" TargetMode="External"/><Relationship Id="rId3" Type="http://schemas.openxmlformats.org/officeDocument/2006/relationships/hyperlink" Target="https://data.cms.gov/provider-summary-by-type-of-service/medicare-part-d-prescribers/medicare-part-d-prescribers-by-provider-and-drug" TargetMode="External"/><Relationship Id="rId4" Type="http://schemas.openxmlformats.org/officeDocument/2006/relationships/hyperlink" Target="https://data.cms.gov/provider-summary-by-type-of-service/medicare-part-d-prescribers/monthly-prescription-drug-plan-formulary-and-pharmacy-network-information" TargetMode="External"/><Relationship Id="rId5" Type="http://schemas.openxmlformats.org/officeDocument/2006/relationships/hyperlink" Target="https://open.fda.gov/apis/drug/ndc/" TargetMode="External"/><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94360" y="429768"/>
            <a:ext cx="7315200" cy="219456"/>
          </a:xfrm>
          <a:prstGeom prst="rect">
            <a:avLst/>
          </a:prstGeom>
          <a:noFill/>
          <a:ln/>
        </p:spPr>
        <p:txBody>
          <a:bodyPr wrap="square" lIns="0" tIns="0" rIns="0" bIns="0" rtlCol="0" anchor="ctr">
            <a:normAutofit/>
          </a:bodyPr>
          <a:lstStyle/>
          <a:p>
            <a:pPr algn="l" indent="0" marL="0">
              <a:buNone/>
            </a:pPr>
            <a:r>
              <a:rPr lang="en-US" sz="1100" b="1" spc="150" kern="0" dirty="0">
                <a:solidFill>
                  <a:srgbClr val="585858"/>
                </a:solidFill>
                <a:latin typeface="Aptos" pitchFamily="34" charset="0"/>
                <a:ea typeface="Aptos" pitchFamily="34" charset="-122"/>
                <a:cs typeface="Aptos" pitchFamily="34" charset="-120"/>
              </a:rPr>
              <a:t>APPLIED AI IN LIFE SCIENCES</a:t>
            </a:r>
            <a:endParaRPr lang="en-US" sz="1100" dirty="0"/>
          </a:p>
        </p:txBody>
      </p:sp>
      <p:sp>
        <p:nvSpPr>
          <p:cNvPr id="3" name="Shape 1"/>
          <p:cNvSpPr/>
          <p:nvPr/>
        </p:nvSpPr>
        <p:spPr>
          <a:xfrm>
            <a:off x="594360" y="832104"/>
            <a:ext cx="10991088" cy="0"/>
          </a:xfrm>
          <a:prstGeom prst="line">
            <a:avLst/>
          </a:prstGeom>
          <a:noFill/>
          <a:ln w="15875">
            <a:solidFill>
              <a:srgbClr val="191919"/>
            </a:solidFill>
            <a:prstDash val="solid"/>
          </a:ln>
        </p:spPr>
      </p:sp>
      <p:sp>
        <p:nvSpPr>
          <p:cNvPr id="4" name="Text 2"/>
          <p:cNvSpPr/>
          <p:nvPr/>
        </p:nvSpPr>
        <p:spPr>
          <a:xfrm>
            <a:off x="594360" y="1325880"/>
            <a:ext cx="10744200" cy="685800"/>
          </a:xfrm>
          <a:prstGeom prst="rect">
            <a:avLst/>
          </a:prstGeom>
          <a:noFill/>
          <a:ln/>
        </p:spPr>
        <p:txBody>
          <a:bodyPr wrap="square" lIns="0" tIns="0" rIns="0" bIns="0" rtlCol="0" anchor="ctr">
            <a:normAutofit/>
          </a:bodyPr>
          <a:lstStyle/>
          <a:p>
            <a:pPr algn="l" indent="0" marL="0">
              <a:buNone/>
            </a:pPr>
            <a:r>
              <a:rPr lang="en-US" sz="4700" b="1" dirty="0">
                <a:solidFill>
                  <a:srgbClr val="191919"/>
                </a:solidFill>
                <a:latin typeface="Aptos Display" pitchFamily="34" charset="0"/>
                <a:ea typeface="Aptos Display" pitchFamily="34" charset="-122"/>
                <a:cs typeface="Aptos Display" pitchFamily="34" charset="-120"/>
              </a:rPr>
              <a:t>PharmAgentics</a:t>
            </a:r>
            <a:endParaRPr lang="en-US" sz="4700" dirty="0"/>
          </a:p>
        </p:txBody>
      </p:sp>
      <p:sp>
        <p:nvSpPr>
          <p:cNvPr id="5" name="Text 3"/>
          <p:cNvSpPr/>
          <p:nvPr/>
        </p:nvSpPr>
        <p:spPr>
          <a:xfrm>
            <a:off x="612648" y="2176272"/>
            <a:ext cx="10698480" cy="886968"/>
          </a:xfrm>
          <a:prstGeom prst="rect">
            <a:avLst/>
          </a:prstGeom>
          <a:noFill/>
          <a:ln/>
        </p:spPr>
        <p:txBody>
          <a:bodyPr wrap="square" lIns="0" tIns="0" rIns="0" bIns="0" rtlCol="0" anchor="t">
            <a:normAutofit/>
          </a:bodyPr>
          <a:lstStyle/>
          <a:p>
            <a:pPr algn="l" indent="0" marL="0">
              <a:buNone/>
            </a:pPr>
            <a:r>
              <a:rPr lang="en-US" sz="2300" dirty="0">
                <a:solidFill>
                  <a:srgbClr val="343434"/>
                </a:solidFill>
                <a:latin typeface="Aptos" pitchFamily="34" charset="0"/>
                <a:ea typeface="Aptos" pitchFamily="34" charset="-122"/>
                <a:cs typeface="Aptos" pitchFamily="34" charset="-120"/>
              </a:rPr>
              <a:t>Synthetic data: what we built, what we verified, and what comes next</a:t>
            </a:r>
            <a:endParaRPr lang="en-US" sz="2300" dirty="0"/>
          </a:p>
        </p:txBody>
      </p:sp>
      <p:sp>
        <p:nvSpPr>
          <p:cNvPr id="6" name="Shape 4"/>
          <p:cNvSpPr/>
          <p:nvPr/>
        </p:nvSpPr>
        <p:spPr>
          <a:xfrm>
            <a:off x="612648" y="3566160"/>
            <a:ext cx="10954512" cy="914400"/>
          </a:xfrm>
          <a:prstGeom prst="rect">
            <a:avLst>
              <a:gd name="adj" fmla="val 6000"/>
            </a:avLst>
          </a:prstGeom>
          <a:solidFill>
            <a:srgbClr val="F6F6F4"/>
          </a:solidFill>
          <a:ln w="10795">
            <a:solidFill>
              <a:srgbClr val="D8D8D5"/>
            </a:solidFill>
            <a:prstDash val="solid"/>
          </a:ln>
        </p:spPr>
      </p:sp>
      <p:sp>
        <p:nvSpPr>
          <p:cNvPr id="7" name="Text 5"/>
          <p:cNvSpPr/>
          <p:nvPr/>
        </p:nvSpPr>
        <p:spPr>
          <a:xfrm>
            <a:off x="859536" y="3785616"/>
            <a:ext cx="1920240" cy="274320"/>
          </a:xfrm>
          <a:prstGeom prst="rect">
            <a:avLst/>
          </a:prstGeom>
          <a:noFill/>
          <a:ln/>
        </p:spPr>
        <p:txBody>
          <a:bodyPr wrap="square" lIns="0" tIns="0" rIns="0" bIns="0" rtlCol="0" anchor="ctr">
            <a:normAutofit/>
          </a:bodyPr>
          <a:lstStyle/>
          <a:p>
            <a:pPr algn="l" indent="0" marL="0">
              <a:buNone/>
            </a:pPr>
            <a:r>
              <a:rPr lang="en-US" sz="1400" b="1" dirty="0">
                <a:solidFill>
                  <a:srgbClr val="191919"/>
                </a:solidFill>
                <a:latin typeface="Aptos" pitchFamily="34" charset="0"/>
                <a:ea typeface="Aptos" pitchFamily="34" charset="-122"/>
                <a:cs typeface="Aptos" pitchFamily="34" charset="-120"/>
              </a:rPr>
              <a:t>Current status</a:t>
            </a:r>
            <a:endParaRPr lang="en-US" sz="1400" dirty="0"/>
          </a:p>
        </p:txBody>
      </p:sp>
      <p:sp>
        <p:nvSpPr>
          <p:cNvPr id="8" name="Text 6"/>
          <p:cNvSpPr/>
          <p:nvPr/>
        </p:nvSpPr>
        <p:spPr>
          <a:xfrm>
            <a:off x="2880360" y="3739896"/>
            <a:ext cx="8302752" cy="411480"/>
          </a:xfrm>
          <a:prstGeom prst="rect">
            <a:avLst/>
          </a:prstGeom>
          <a:noFill/>
          <a:ln/>
        </p:spPr>
        <p:txBody>
          <a:bodyPr wrap="square" lIns="0" tIns="0" rIns="0" bIns="0" rtlCol="0" anchor="ctr">
            <a:normAutofit/>
          </a:bodyPr>
          <a:lstStyle/>
          <a:p>
            <a:pPr algn="l" indent="0" marL="0">
              <a:buNone/>
            </a:pPr>
            <a:r>
              <a:rPr lang="en-US" sz="1600" dirty="0">
                <a:solidFill>
                  <a:srgbClr val="343434"/>
                </a:solidFill>
                <a:latin typeface="Aptos" pitchFamily="34" charset="0"/>
                <a:ea typeface="Aptos" pitchFamily="34" charset="-122"/>
                <a:cs typeface="Aptos" pitchFamily="34" charset="-120"/>
              </a:rPr>
              <a:t>v0 engineering simulator  —  reproducible, but not yet empirically calibrated</a:t>
            </a:r>
            <a:endParaRPr lang="en-US" sz="1600" dirty="0"/>
          </a:p>
        </p:txBody>
      </p:sp>
      <p:sp>
        <p:nvSpPr>
          <p:cNvPr id="9" name="Text 7"/>
          <p:cNvSpPr/>
          <p:nvPr/>
        </p:nvSpPr>
        <p:spPr>
          <a:xfrm>
            <a:off x="612648" y="4956048"/>
            <a:ext cx="2578608" cy="493776"/>
          </a:xfrm>
          <a:prstGeom prst="rect">
            <a:avLst/>
          </a:prstGeom>
          <a:noFill/>
          <a:ln/>
        </p:spPr>
        <p:txBody>
          <a:bodyPr wrap="square" lIns="0" tIns="0" rIns="0" bIns="0" rtlCol="0" anchor="ctr">
            <a:normAutofit/>
          </a:bodyPr>
          <a:lstStyle/>
          <a:p>
            <a:pPr algn="l" indent="0" marL="0">
              <a:buNone/>
            </a:pPr>
            <a:r>
              <a:rPr lang="en-US" sz="2900" b="1" dirty="0">
                <a:solidFill>
                  <a:srgbClr val="191919"/>
                </a:solidFill>
                <a:latin typeface="Aptos" pitchFamily="34" charset="0"/>
                <a:ea typeface="Aptos" pitchFamily="34" charset="-122"/>
                <a:cs typeface="Aptos" pitchFamily="34" charset="-120"/>
              </a:rPr>
              <a:t>14</a:t>
            </a:r>
            <a:endParaRPr lang="en-US" sz="2900" dirty="0"/>
          </a:p>
        </p:txBody>
      </p:sp>
      <p:sp>
        <p:nvSpPr>
          <p:cNvPr id="10" name="Text 8"/>
          <p:cNvSpPr/>
          <p:nvPr/>
        </p:nvSpPr>
        <p:spPr>
          <a:xfrm>
            <a:off x="612648" y="5504688"/>
            <a:ext cx="2596896" cy="274320"/>
          </a:xfrm>
          <a:prstGeom prst="rect">
            <a:avLst/>
          </a:prstGeom>
          <a:noFill/>
          <a:ln/>
        </p:spPr>
        <p:txBody>
          <a:bodyPr wrap="square" lIns="0" tIns="0" rIns="0" bIns="0" rtlCol="0" anchor="ctr">
            <a:normAutofit/>
          </a:bodyPr>
          <a:lstStyle/>
          <a:p>
            <a:pPr algn="l" indent="0" marL="0">
              <a:buNone/>
            </a:pPr>
            <a:r>
              <a:rPr lang="en-US" sz="1220" dirty="0">
                <a:solidFill>
                  <a:srgbClr val="737373"/>
                </a:solidFill>
                <a:latin typeface="Aptos" pitchFamily="34" charset="0"/>
                <a:ea typeface="Aptos" pitchFamily="34" charset="-122"/>
                <a:cs typeface="Aptos" pitchFamily="34" charset="-120"/>
              </a:rPr>
              <a:t>Agent-visible CSVs</a:t>
            </a:r>
            <a:endParaRPr lang="en-US" sz="1220" dirty="0"/>
          </a:p>
        </p:txBody>
      </p:sp>
      <p:sp>
        <p:nvSpPr>
          <p:cNvPr id="11" name="Shape 9"/>
          <p:cNvSpPr/>
          <p:nvPr/>
        </p:nvSpPr>
        <p:spPr>
          <a:xfrm>
            <a:off x="3264408" y="4983480"/>
            <a:ext cx="0" cy="850392"/>
          </a:xfrm>
          <a:prstGeom prst="line">
            <a:avLst/>
          </a:prstGeom>
          <a:noFill/>
          <a:ln w="12700">
            <a:solidFill>
              <a:srgbClr val="D8D8D5"/>
            </a:solidFill>
            <a:prstDash val="solid"/>
          </a:ln>
        </p:spPr>
      </p:sp>
      <p:sp>
        <p:nvSpPr>
          <p:cNvPr id="12" name="Text 10"/>
          <p:cNvSpPr/>
          <p:nvPr/>
        </p:nvSpPr>
        <p:spPr>
          <a:xfrm>
            <a:off x="3429000" y="4956048"/>
            <a:ext cx="2578608" cy="493776"/>
          </a:xfrm>
          <a:prstGeom prst="rect">
            <a:avLst/>
          </a:prstGeom>
          <a:noFill/>
          <a:ln/>
        </p:spPr>
        <p:txBody>
          <a:bodyPr wrap="square" lIns="0" tIns="0" rIns="0" bIns="0" rtlCol="0" anchor="ctr">
            <a:normAutofit/>
          </a:bodyPr>
          <a:lstStyle/>
          <a:p>
            <a:pPr algn="l" indent="0" marL="0">
              <a:buNone/>
            </a:pPr>
            <a:r>
              <a:rPr lang="en-US" sz="2900" b="1" dirty="0">
                <a:solidFill>
                  <a:srgbClr val="191919"/>
                </a:solidFill>
                <a:latin typeface="Aptos" pitchFamily="34" charset="0"/>
                <a:ea typeface="Aptos" pitchFamily="34" charset="-122"/>
                <a:cs typeface="Aptos" pitchFamily="34" charset="-120"/>
              </a:rPr>
              <a:t>3</a:t>
            </a:r>
            <a:endParaRPr lang="en-US" sz="2900" dirty="0"/>
          </a:p>
        </p:txBody>
      </p:sp>
      <p:sp>
        <p:nvSpPr>
          <p:cNvPr id="13" name="Text 11"/>
          <p:cNvSpPr/>
          <p:nvPr/>
        </p:nvSpPr>
        <p:spPr>
          <a:xfrm>
            <a:off x="3429000" y="5504688"/>
            <a:ext cx="2596896" cy="274320"/>
          </a:xfrm>
          <a:prstGeom prst="rect">
            <a:avLst/>
          </a:prstGeom>
          <a:noFill/>
          <a:ln/>
        </p:spPr>
        <p:txBody>
          <a:bodyPr wrap="square" lIns="0" tIns="0" rIns="0" bIns="0" rtlCol="0" anchor="ctr">
            <a:normAutofit/>
          </a:bodyPr>
          <a:lstStyle/>
          <a:p>
            <a:pPr algn="l" indent="0" marL="0">
              <a:buNone/>
            </a:pPr>
            <a:r>
              <a:rPr lang="en-US" sz="1220" dirty="0">
                <a:solidFill>
                  <a:srgbClr val="737373"/>
                </a:solidFill>
                <a:latin typeface="Aptos" pitchFamily="34" charset="0"/>
                <a:ea typeface="Aptos" pitchFamily="34" charset="-122"/>
                <a:cs typeface="Aptos" pitchFamily="34" charset="-120"/>
              </a:rPr>
              <a:t>Private evaluation CSVs</a:t>
            </a:r>
            <a:endParaRPr lang="en-US" sz="1220" dirty="0"/>
          </a:p>
        </p:txBody>
      </p:sp>
      <p:sp>
        <p:nvSpPr>
          <p:cNvPr id="14" name="Shape 12"/>
          <p:cNvSpPr/>
          <p:nvPr/>
        </p:nvSpPr>
        <p:spPr>
          <a:xfrm>
            <a:off x="6080760" y="4983480"/>
            <a:ext cx="0" cy="850392"/>
          </a:xfrm>
          <a:prstGeom prst="line">
            <a:avLst/>
          </a:prstGeom>
          <a:noFill/>
          <a:ln w="12700">
            <a:solidFill>
              <a:srgbClr val="D8D8D5"/>
            </a:solidFill>
            <a:prstDash val="solid"/>
          </a:ln>
        </p:spPr>
      </p:sp>
      <p:sp>
        <p:nvSpPr>
          <p:cNvPr id="15" name="Text 13"/>
          <p:cNvSpPr/>
          <p:nvPr/>
        </p:nvSpPr>
        <p:spPr>
          <a:xfrm>
            <a:off x="6245352" y="4956048"/>
            <a:ext cx="2578608" cy="493776"/>
          </a:xfrm>
          <a:prstGeom prst="rect">
            <a:avLst/>
          </a:prstGeom>
          <a:noFill/>
          <a:ln/>
        </p:spPr>
        <p:txBody>
          <a:bodyPr wrap="square" lIns="0" tIns="0" rIns="0" bIns="0" rtlCol="0" anchor="ctr">
            <a:normAutofit/>
          </a:bodyPr>
          <a:lstStyle/>
          <a:p>
            <a:pPr algn="l" indent="0" marL="0">
              <a:buNone/>
            </a:pPr>
            <a:r>
              <a:rPr lang="en-US" sz="2900" b="1" dirty="0">
                <a:solidFill>
                  <a:srgbClr val="191919"/>
                </a:solidFill>
                <a:latin typeface="Aptos" pitchFamily="34" charset="0"/>
                <a:ea typeface="Aptos" pitchFamily="34" charset="-122"/>
                <a:cs typeface="Aptos" pitchFamily="34" charset="-120"/>
              </a:rPr>
              <a:t>104</a:t>
            </a:r>
            <a:endParaRPr lang="en-US" sz="2900" dirty="0"/>
          </a:p>
        </p:txBody>
      </p:sp>
      <p:sp>
        <p:nvSpPr>
          <p:cNvPr id="16" name="Text 14"/>
          <p:cNvSpPr/>
          <p:nvPr/>
        </p:nvSpPr>
        <p:spPr>
          <a:xfrm>
            <a:off x="6245352" y="5504688"/>
            <a:ext cx="2596896" cy="274320"/>
          </a:xfrm>
          <a:prstGeom prst="rect">
            <a:avLst/>
          </a:prstGeom>
          <a:noFill/>
          <a:ln/>
        </p:spPr>
        <p:txBody>
          <a:bodyPr wrap="square" lIns="0" tIns="0" rIns="0" bIns="0" rtlCol="0" anchor="ctr">
            <a:normAutofit/>
          </a:bodyPr>
          <a:lstStyle/>
          <a:p>
            <a:pPr algn="l" indent="0" marL="0">
              <a:buNone/>
            </a:pPr>
            <a:r>
              <a:rPr lang="en-US" sz="1220" dirty="0">
                <a:solidFill>
                  <a:srgbClr val="737373"/>
                </a:solidFill>
                <a:latin typeface="Aptos" pitchFamily="34" charset="0"/>
                <a:ea typeface="Aptos" pitchFamily="34" charset="-122"/>
                <a:cs typeface="Aptos" pitchFamily="34" charset="-120"/>
              </a:rPr>
              <a:t>Reporting weeks</a:t>
            </a:r>
            <a:endParaRPr lang="en-US" sz="1220" dirty="0"/>
          </a:p>
        </p:txBody>
      </p:sp>
      <p:sp>
        <p:nvSpPr>
          <p:cNvPr id="17" name="Shape 15"/>
          <p:cNvSpPr/>
          <p:nvPr/>
        </p:nvSpPr>
        <p:spPr>
          <a:xfrm>
            <a:off x="8897112" y="4983480"/>
            <a:ext cx="0" cy="850392"/>
          </a:xfrm>
          <a:prstGeom prst="line">
            <a:avLst/>
          </a:prstGeom>
          <a:noFill/>
          <a:ln w="12700">
            <a:solidFill>
              <a:srgbClr val="D8D8D5"/>
            </a:solidFill>
            <a:prstDash val="solid"/>
          </a:ln>
        </p:spPr>
      </p:sp>
      <p:sp>
        <p:nvSpPr>
          <p:cNvPr id="18" name="Text 16"/>
          <p:cNvSpPr/>
          <p:nvPr/>
        </p:nvSpPr>
        <p:spPr>
          <a:xfrm>
            <a:off x="9061704" y="4956048"/>
            <a:ext cx="2578608" cy="493776"/>
          </a:xfrm>
          <a:prstGeom prst="rect">
            <a:avLst/>
          </a:prstGeom>
          <a:noFill/>
          <a:ln/>
        </p:spPr>
        <p:txBody>
          <a:bodyPr wrap="square" lIns="0" tIns="0" rIns="0" bIns="0" rtlCol="0" anchor="ctr">
            <a:normAutofit/>
          </a:bodyPr>
          <a:lstStyle/>
          <a:p>
            <a:pPr algn="l" indent="0" marL="0">
              <a:buNone/>
            </a:pPr>
            <a:r>
              <a:rPr lang="en-US" sz="2900" b="1" dirty="0">
                <a:solidFill>
                  <a:srgbClr val="191919"/>
                </a:solidFill>
                <a:latin typeface="Aptos" pitchFamily="34" charset="0"/>
                <a:ea typeface="Aptos" pitchFamily="34" charset="-122"/>
                <a:cs typeface="Aptos" pitchFamily="34" charset="-120"/>
              </a:rPr>
              <a:t>106,467</a:t>
            </a:r>
            <a:endParaRPr lang="en-US" sz="2900" dirty="0"/>
          </a:p>
        </p:txBody>
      </p:sp>
      <p:sp>
        <p:nvSpPr>
          <p:cNvPr id="19" name="Text 17"/>
          <p:cNvSpPr/>
          <p:nvPr/>
        </p:nvSpPr>
        <p:spPr>
          <a:xfrm>
            <a:off x="9061704" y="5504688"/>
            <a:ext cx="2596896" cy="274320"/>
          </a:xfrm>
          <a:prstGeom prst="rect">
            <a:avLst/>
          </a:prstGeom>
          <a:noFill/>
          <a:ln/>
        </p:spPr>
        <p:txBody>
          <a:bodyPr wrap="square" lIns="0" tIns="0" rIns="0" bIns="0" rtlCol="0" anchor="ctr">
            <a:normAutofit/>
          </a:bodyPr>
          <a:lstStyle/>
          <a:p>
            <a:pPr algn="l" indent="0" marL="0">
              <a:buNone/>
            </a:pPr>
            <a:r>
              <a:rPr lang="en-US" sz="1220" dirty="0">
                <a:solidFill>
                  <a:srgbClr val="737373"/>
                </a:solidFill>
                <a:latin typeface="Aptos" pitchFamily="34" charset="0"/>
                <a:ea typeface="Aptos" pitchFamily="34" charset="-122"/>
                <a:cs typeface="Aptos" pitchFamily="34" charset="-120"/>
              </a:rPr>
              <a:t>Observed Rx records</a:t>
            </a:r>
            <a:endParaRPr lang="en-US" sz="1220" dirty="0"/>
          </a:p>
        </p:txBody>
      </p:sp>
      <p:sp>
        <p:nvSpPr>
          <p:cNvPr id="20" name="Text 18"/>
          <p:cNvSpPr/>
          <p:nvPr/>
        </p:nvSpPr>
        <p:spPr>
          <a:xfrm>
            <a:off x="621792" y="6537960"/>
            <a:ext cx="10058400" cy="201168"/>
          </a:xfrm>
          <a:prstGeom prst="rect">
            <a:avLst/>
          </a:prstGeom>
          <a:noFill/>
          <a:ln/>
        </p:spPr>
        <p:txBody>
          <a:bodyPr wrap="square" lIns="0" tIns="0" rIns="0" bIns="0" rtlCol="0" anchor="ctr">
            <a:normAutofit/>
          </a:bodyPr>
          <a:lstStyle/>
          <a:p>
            <a:pPr algn="l" indent="0" marL="0">
              <a:buNone/>
            </a:pPr>
            <a:r>
              <a:rPr lang="en-US" sz="1000" dirty="0">
                <a:solidFill>
                  <a:srgbClr val="737373"/>
                </a:solidFill>
                <a:latin typeface="Aptos" pitchFamily="34" charset="0"/>
                <a:ea typeface="Aptos" pitchFamily="34" charset="-122"/>
                <a:cs typeface="Aptos" pitchFamily="34" charset="-120"/>
              </a:rPr>
              <a:t>DAY 1 METHODOLOGY / FIVE-MINUTE BRIEF</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310896"/>
            <a:ext cx="7315200" cy="201168"/>
          </a:xfrm>
          <a:prstGeom prst="rect">
            <a:avLst/>
          </a:prstGeom>
          <a:noFill/>
          <a:ln/>
        </p:spPr>
        <p:txBody>
          <a:bodyPr wrap="square" lIns="0" tIns="0" rIns="0" bIns="0" rtlCol="0" anchor="ctr">
            <a:normAutofit/>
          </a:bodyPr>
          <a:lstStyle/>
          <a:p>
            <a:pPr algn="l" indent="0" marL="0">
              <a:buNone/>
            </a:pPr>
            <a:r>
              <a:rPr lang="en-US" sz="1000" b="1" spc="160" kern="0" dirty="0">
                <a:solidFill>
                  <a:srgbClr val="737373"/>
                </a:solidFill>
                <a:latin typeface="Aptos" pitchFamily="34" charset="0"/>
                <a:ea typeface="Aptos" pitchFamily="34" charset="-122"/>
                <a:cs typeface="Aptos" pitchFamily="34" charset="-120"/>
              </a:rPr>
              <a:t>PHARMAGENTICS  /  RESEARCH UPDATE</a:t>
            </a:r>
            <a:endParaRPr lang="en-US" sz="1000" dirty="0"/>
          </a:p>
        </p:txBody>
      </p:sp>
      <p:sp>
        <p:nvSpPr>
          <p:cNvPr id="3" name="Text 1"/>
          <p:cNvSpPr/>
          <p:nvPr/>
        </p:nvSpPr>
        <p:spPr>
          <a:xfrm>
            <a:off x="10744200" y="310896"/>
            <a:ext cx="896112" cy="201168"/>
          </a:xfrm>
          <a:prstGeom prst="rect">
            <a:avLst/>
          </a:prstGeom>
          <a:noFill/>
          <a:ln/>
        </p:spPr>
        <p:txBody>
          <a:bodyPr wrap="square" lIns="0" tIns="0" rIns="0" bIns="0" rtlCol="0" anchor="ctr">
            <a:normAutofit/>
          </a:bodyPr>
          <a:lstStyle/>
          <a:p>
            <a:pPr algn="r" indent="0" marL="0">
              <a:buNone/>
            </a:pPr>
            <a:r>
              <a:rPr lang="en-US" sz="1000" dirty="0">
                <a:solidFill>
                  <a:srgbClr val="737373"/>
                </a:solidFill>
                <a:latin typeface="Aptos" pitchFamily="34" charset="0"/>
                <a:ea typeface="Aptos" pitchFamily="34" charset="-122"/>
                <a:cs typeface="Aptos" pitchFamily="34" charset="-120"/>
              </a:rPr>
              <a:t>02 / 06</a:t>
            </a:r>
            <a:endParaRPr lang="en-US" sz="1000" dirty="0"/>
          </a:p>
        </p:txBody>
      </p:sp>
      <p:sp>
        <p:nvSpPr>
          <p:cNvPr id="4" name="Shape 2"/>
          <p:cNvSpPr/>
          <p:nvPr/>
        </p:nvSpPr>
        <p:spPr>
          <a:xfrm>
            <a:off x="548640" y="630936"/>
            <a:ext cx="11082528" cy="0"/>
          </a:xfrm>
          <a:prstGeom prst="line">
            <a:avLst/>
          </a:prstGeom>
          <a:noFill/>
          <a:ln w="12700">
            <a:solidFill>
              <a:srgbClr val="D8D8D5"/>
            </a:solidFill>
            <a:prstDash val="solid"/>
          </a:ln>
        </p:spPr>
      </p:sp>
      <p:sp>
        <p:nvSpPr>
          <p:cNvPr id="5" name="Text 3"/>
          <p:cNvSpPr/>
          <p:nvPr/>
        </p:nvSpPr>
        <p:spPr>
          <a:xfrm>
            <a:off x="548640" y="832104"/>
            <a:ext cx="8229600" cy="182880"/>
          </a:xfrm>
          <a:prstGeom prst="rect">
            <a:avLst/>
          </a:prstGeom>
          <a:noFill/>
          <a:ln/>
        </p:spPr>
        <p:txBody>
          <a:bodyPr wrap="square" lIns="0" tIns="0" rIns="0" bIns="0" rtlCol="0" anchor="ctr">
            <a:normAutofit/>
          </a:bodyPr>
          <a:lstStyle/>
          <a:p>
            <a:pPr algn="l" indent="0" marL="0">
              <a:buNone/>
            </a:pPr>
            <a:r>
              <a:rPr lang="en-US" sz="1050" b="1" spc="140" kern="0" dirty="0">
                <a:solidFill>
                  <a:srgbClr val="585858"/>
                </a:solidFill>
                <a:latin typeface="Aptos" pitchFamily="34" charset="0"/>
                <a:ea typeface="Aptos" pitchFamily="34" charset="-122"/>
                <a:cs typeface="Aptos" pitchFamily="34" charset="-120"/>
              </a:rPr>
              <a:t>DATA INVENTORY</a:t>
            </a:r>
            <a:endParaRPr lang="en-US" sz="1050" dirty="0"/>
          </a:p>
        </p:txBody>
      </p:sp>
      <p:sp>
        <p:nvSpPr>
          <p:cNvPr id="6" name="Text 4"/>
          <p:cNvSpPr/>
          <p:nvPr/>
        </p:nvSpPr>
        <p:spPr>
          <a:xfrm>
            <a:off x="548640" y="1124712"/>
            <a:ext cx="11064240" cy="521208"/>
          </a:xfrm>
          <a:prstGeom prst="rect">
            <a:avLst/>
          </a:prstGeom>
          <a:noFill/>
          <a:ln/>
        </p:spPr>
        <p:txBody>
          <a:bodyPr wrap="square" lIns="0" tIns="0" rIns="0" bIns="0" rtlCol="0" anchor="ctr">
            <a:normAutofit/>
          </a:bodyPr>
          <a:lstStyle/>
          <a:p>
            <a:pPr algn="l" indent="0" marL="0">
              <a:buNone/>
            </a:pPr>
            <a:r>
              <a:rPr lang="en-US" sz="3050" b="1" dirty="0">
                <a:solidFill>
                  <a:srgbClr val="191919"/>
                </a:solidFill>
                <a:latin typeface="Aptos Display" pitchFamily="34" charset="0"/>
                <a:ea typeface="Aptos Display" pitchFamily="34" charset="-122"/>
                <a:cs typeface="Aptos Display" pitchFamily="34" charset="-120"/>
              </a:rPr>
              <a:t>One simulated market, 14 linked CSVs</a:t>
            </a:r>
            <a:endParaRPr lang="en-US" sz="3050" dirty="0"/>
          </a:p>
        </p:txBody>
      </p:sp>
      <p:sp>
        <p:nvSpPr>
          <p:cNvPr id="7" name="Text 5"/>
          <p:cNvSpPr/>
          <p:nvPr/>
        </p:nvSpPr>
        <p:spPr>
          <a:xfrm>
            <a:off x="548640" y="1755648"/>
            <a:ext cx="11018520" cy="411480"/>
          </a:xfrm>
          <a:prstGeom prst="rect">
            <a:avLst/>
          </a:prstGeom>
          <a:noFill/>
          <a:ln/>
        </p:spPr>
        <p:txBody>
          <a:bodyPr wrap="square" lIns="0" tIns="0" rIns="0" bIns="0" rtlCol="0" anchor="ctr">
            <a:normAutofit/>
          </a:bodyPr>
          <a:lstStyle/>
          <a:p>
            <a:pPr algn="l" indent="0" marL="0">
              <a:buNone/>
            </a:pPr>
            <a:r>
              <a:rPr lang="en-US" sz="1400" dirty="0">
                <a:solidFill>
                  <a:srgbClr val="585858"/>
                </a:solidFill>
                <a:latin typeface="Aptos" pitchFamily="34" charset="0"/>
                <a:ea typeface="Aptos" pitchFamily="34" charset="-122"/>
                <a:cs typeface="Aptos" pitchFamily="34" charset="-120"/>
              </a:rPr>
              <a:t>Every public CSV is synthetic. “Base” here means a simulation input—not downloaded source data.</a:t>
            </a:r>
            <a:endParaRPr lang="en-US" sz="1400" dirty="0"/>
          </a:p>
        </p:txBody>
      </p:sp>
      <p:sp>
        <p:nvSpPr>
          <p:cNvPr id="8" name="Shape 6"/>
          <p:cNvSpPr/>
          <p:nvPr/>
        </p:nvSpPr>
        <p:spPr>
          <a:xfrm>
            <a:off x="548640" y="6483096"/>
            <a:ext cx="11082528" cy="0"/>
          </a:xfrm>
          <a:prstGeom prst="line">
            <a:avLst/>
          </a:prstGeom>
          <a:noFill/>
          <a:ln w="12700">
            <a:solidFill>
              <a:srgbClr val="D8D8D5"/>
            </a:solidFill>
            <a:prstDash val="solid"/>
          </a:ln>
        </p:spPr>
      </p:sp>
      <p:sp>
        <p:nvSpPr>
          <p:cNvPr id="9" name="Text 7"/>
          <p:cNvSpPr/>
          <p:nvPr/>
        </p:nvSpPr>
        <p:spPr>
          <a:xfrm>
            <a:off x="548640" y="6565392"/>
            <a:ext cx="8229600" cy="146304"/>
          </a:xfrm>
          <a:prstGeom prst="rect">
            <a:avLst/>
          </a:prstGeom>
          <a:noFill/>
          <a:ln/>
        </p:spPr>
        <p:txBody>
          <a:bodyPr wrap="square" lIns="0" tIns="0" rIns="0" bIns="0" rtlCol="0" anchor="ctr">
            <a:normAutofit/>
          </a:bodyPr>
          <a:lstStyle/>
          <a:p>
            <a:pPr algn="l" indent="0" marL="0">
              <a:buNone/>
            </a:pPr>
            <a:r>
              <a:rPr lang="en-US" sz="900" dirty="0">
                <a:solidFill>
                  <a:srgbClr val="737373"/>
                </a:solidFill>
                <a:latin typeface="Aptos" pitchFamily="34" charset="0"/>
                <a:ea typeface="Aptos" pitchFamily="34" charset="-122"/>
                <a:cs typeface="Aptos" pitchFamily="34" charset="-120"/>
              </a:rPr>
              <a:t>SYNTHETIC DATA METHODOLOGY  ·  OCT 2026</a:t>
            </a:r>
            <a:endParaRPr lang="en-US" sz="900" dirty="0"/>
          </a:p>
        </p:txBody>
      </p:sp>
      <p:sp>
        <p:nvSpPr>
          <p:cNvPr id="10" name="Shape 8"/>
          <p:cNvSpPr/>
          <p:nvPr/>
        </p:nvSpPr>
        <p:spPr>
          <a:xfrm>
            <a:off x="548640" y="2395728"/>
            <a:ext cx="2788920" cy="3474720"/>
          </a:xfrm>
          <a:prstGeom prst="rect">
            <a:avLst>
              <a:gd name="adj" fmla="val 1967"/>
            </a:avLst>
          </a:prstGeom>
          <a:solidFill>
            <a:srgbClr val="FFFFFF"/>
          </a:solidFill>
          <a:ln w="10795">
            <a:solidFill>
              <a:srgbClr val="D8D8D5"/>
            </a:solidFill>
            <a:prstDash val="solid"/>
          </a:ln>
        </p:spPr>
      </p:sp>
      <p:sp>
        <p:nvSpPr>
          <p:cNvPr id="11" name="Text 9"/>
          <p:cNvSpPr/>
          <p:nvPr/>
        </p:nvSpPr>
        <p:spPr>
          <a:xfrm>
            <a:off x="749808" y="2606040"/>
            <a:ext cx="731520" cy="466344"/>
          </a:xfrm>
          <a:prstGeom prst="rect">
            <a:avLst/>
          </a:prstGeom>
          <a:noFill/>
          <a:ln/>
        </p:spPr>
        <p:txBody>
          <a:bodyPr wrap="square" lIns="0" tIns="0" rIns="0" bIns="0" rtlCol="0" anchor="ctr">
            <a:normAutofit/>
          </a:bodyPr>
          <a:lstStyle/>
          <a:p>
            <a:pPr algn="l" indent="0" marL="0">
              <a:buNone/>
            </a:pPr>
            <a:r>
              <a:rPr lang="en-US" sz="2900" b="1" dirty="0">
                <a:solidFill>
                  <a:srgbClr val="191919"/>
                </a:solidFill>
                <a:latin typeface="Aptos" pitchFamily="34" charset="0"/>
                <a:ea typeface="Aptos" pitchFamily="34" charset="-122"/>
                <a:cs typeface="Aptos" pitchFamily="34" charset="-120"/>
              </a:rPr>
              <a:t>06</a:t>
            </a:r>
            <a:endParaRPr lang="en-US" sz="2900" dirty="0"/>
          </a:p>
        </p:txBody>
      </p:sp>
      <p:sp>
        <p:nvSpPr>
          <p:cNvPr id="12" name="Text 10"/>
          <p:cNvSpPr/>
          <p:nvPr/>
        </p:nvSpPr>
        <p:spPr>
          <a:xfrm>
            <a:off x="1499616" y="2816352"/>
            <a:ext cx="1673352" cy="201168"/>
          </a:xfrm>
          <a:prstGeom prst="rect">
            <a:avLst/>
          </a:prstGeom>
          <a:noFill/>
          <a:ln/>
        </p:spPr>
        <p:txBody>
          <a:bodyPr wrap="square" lIns="0" tIns="0" rIns="0" bIns="0" rtlCol="0" anchor="ctr">
            <a:normAutofit/>
          </a:bodyPr>
          <a:lstStyle/>
          <a:p>
            <a:pPr algn="l" indent="0" marL="0">
              <a:buNone/>
            </a:pPr>
            <a:r>
              <a:rPr lang="en-US" sz="1010" b="1" spc="100" kern="0" dirty="0">
                <a:solidFill>
                  <a:srgbClr val="585858"/>
                </a:solidFill>
                <a:latin typeface="Aptos" pitchFamily="34" charset="0"/>
                <a:ea typeface="Aptos" pitchFamily="34" charset="-122"/>
                <a:cs typeface="Aptos" pitchFamily="34" charset="-120"/>
              </a:rPr>
              <a:t>FOUNDATIONAL</a:t>
            </a:r>
            <a:endParaRPr lang="en-US" sz="1010" dirty="0"/>
          </a:p>
        </p:txBody>
      </p:sp>
      <p:sp>
        <p:nvSpPr>
          <p:cNvPr id="13" name="Shape 11"/>
          <p:cNvSpPr/>
          <p:nvPr/>
        </p:nvSpPr>
        <p:spPr>
          <a:xfrm>
            <a:off x="749808" y="3191256"/>
            <a:ext cx="2386584" cy="0"/>
          </a:xfrm>
          <a:prstGeom prst="line">
            <a:avLst/>
          </a:prstGeom>
          <a:noFill/>
          <a:ln w="12700">
            <a:solidFill>
              <a:srgbClr val="D8D8D5"/>
            </a:solidFill>
            <a:prstDash val="solid"/>
          </a:ln>
        </p:spPr>
      </p:sp>
      <p:sp>
        <p:nvSpPr>
          <p:cNvPr id="14" name="Text 12"/>
          <p:cNvSpPr/>
          <p:nvPr/>
        </p:nvSpPr>
        <p:spPr>
          <a:xfrm>
            <a:off x="758952" y="3374136"/>
            <a:ext cx="2414016" cy="283464"/>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dim_product</a:t>
            </a:r>
            <a:endParaRPr lang="en-US" sz="1260" dirty="0"/>
          </a:p>
        </p:txBody>
      </p:sp>
      <p:sp>
        <p:nvSpPr>
          <p:cNvPr id="15" name="Text 13"/>
          <p:cNvSpPr/>
          <p:nvPr/>
        </p:nvSpPr>
        <p:spPr>
          <a:xfrm>
            <a:off x="758952" y="3730752"/>
            <a:ext cx="2414016" cy="283464"/>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dim_territory</a:t>
            </a:r>
            <a:endParaRPr lang="en-US" sz="1260" dirty="0"/>
          </a:p>
        </p:txBody>
      </p:sp>
      <p:sp>
        <p:nvSpPr>
          <p:cNvPr id="16" name="Text 14"/>
          <p:cNvSpPr/>
          <p:nvPr/>
        </p:nvSpPr>
        <p:spPr>
          <a:xfrm>
            <a:off x="758952" y="4087368"/>
            <a:ext cx="2414016" cy="283464"/>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dim_plan</a:t>
            </a:r>
            <a:endParaRPr lang="en-US" sz="1260" dirty="0"/>
          </a:p>
        </p:txBody>
      </p:sp>
      <p:sp>
        <p:nvSpPr>
          <p:cNvPr id="17" name="Text 15"/>
          <p:cNvSpPr/>
          <p:nvPr/>
        </p:nvSpPr>
        <p:spPr>
          <a:xfrm>
            <a:off x="758952" y="4443984"/>
            <a:ext cx="2414016" cy="283464"/>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dim_specialty</a:t>
            </a:r>
            <a:endParaRPr lang="en-US" sz="1260" dirty="0"/>
          </a:p>
        </p:txBody>
      </p:sp>
      <p:sp>
        <p:nvSpPr>
          <p:cNvPr id="18" name="Text 16"/>
          <p:cNvSpPr/>
          <p:nvPr/>
        </p:nvSpPr>
        <p:spPr>
          <a:xfrm>
            <a:off x="758952" y="4800600"/>
            <a:ext cx="2414016" cy="283464"/>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market_basket</a:t>
            </a:r>
            <a:endParaRPr lang="en-US" sz="1260" dirty="0"/>
          </a:p>
        </p:txBody>
      </p:sp>
      <p:sp>
        <p:nvSpPr>
          <p:cNvPr id="19" name="Text 17"/>
          <p:cNvSpPr/>
          <p:nvPr/>
        </p:nvSpPr>
        <p:spPr>
          <a:xfrm>
            <a:off x="758952" y="5157216"/>
            <a:ext cx="2414016" cy="283464"/>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calendar</a:t>
            </a:r>
            <a:endParaRPr lang="en-US" sz="1260" dirty="0"/>
          </a:p>
        </p:txBody>
      </p:sp>
      <p:sp>
        <p:nvSpPr>
          <p:cNvPr id="20" name="Shape 18"/>
          <p:cNvSpPr/>
          <p:nvPr/>
        </p:nvSpPr>
        <p:spPr>
          <a:xfrm>
            <a:off x="3502152" y="2395728"/>
            <a:ext cx="2788920" cy="3474720"/>
          </a:xfrm>
          <a:prstGeom prst="rect">
            <a:avLst>
              <a:gd name="adj" fmla="val 1967"/>
            </a:avLst>
          </a:prstGeom>
          <a:solidFill>
            <a:srgbClr val="FFFFFF"/>
          </a:solidFill>
          <a:ln w="10795">
            <a:solidFill>
              <a:srgbClr val="D8D8D5"/>
            </a:solidFill>
            <a:prstDash val="solid"/>
          </a:ln>
        </p:spPr>
      </p:sp>
      <p:sp>
        <p:nvSpPr>
          <p:cNvPr id="21" name="Text 19"/>
          <p:cNvSpPr/>
          <p:nvPr/>
        </p:nvSpPr>
        <p:spPr>
          <a:xfrm>
            <a:off x="3703320" y="2606040"/>
            <a:ext cx="731520" cy="466344"/>
          </a:xfrm>
          <a:prstGeom prst="rect">
            <a:avLst/>
          </a:prstGeom>
          <a:noFill/>
          <a:ln/>
        </p:spPr>
        <p:txBody>
          <a:bodyPr wrap="square" lIns="0" tIns="0" rIns="0" bIns="0" rtlCol="0" anchor="ctr">
            <a:normAutofit/>
          </a:bodyPr>
          <a:lstStyle/>
          <a:p>
            <a:pPr algn="l" indent="0" marL="0">
              <a:buNone/>
            </a:pPr>
            <a:r>
              <a:rPr lang="en-US" sz="2900" b="1" dirty="0">
                <a:solidFill>
                  <a:srgbClr val="191919"/>
                </a:solidFill>
                <a:latin typeface="Aptos" pitchFamily="34" charset="0"/>
                <a:ea typeface="Aptos" pitchFamily="34" charset="-122"/>
                <a:cs typeface="Aptos" pitchFamily="34" charset="-120"/>
              </a:rPr>
              <a:t>04</a:t>
            </a:r>
            <a:endParaRPr lang="en-US" sz="2900" dirty="0"/>
          </a:p>
        </p:txBody>
      </p:sp>
      <p:sp>
        <p:nvSpPr>
          <p:cNvPr id="22" name="Text 20"/>
          <p:cNvSpPr/>
          <p:nvPr/>
        </p:nvSpPr>
        <p:spPr>
          <a:xfrm>
            <a:off x="4453128" y="2816352"/>
            <a:ext cx="1673352" cy="201168"/>
          </a:xfrm>
          <a:prstGeom prst="rect">
            <a:avLst/>
          </a:prstGeom>
          <a:noFill/>
          <a:ln/>
        </p:spPr>
        <p:txBody>
          <a:bodyPr wrap="square" lIns="0" tIns="0" rIns="0" bIns="0" rtlCol="0" anchor="ctr">
            <a:normAutofit/>
          </a:bodyPr>
          <a:lstStyle/>
          <a:p>
            <a:pPr algn="l" indent="0" marL="0">
              <a:buNone/>
            </a:pPr>
            <a:r>
              <a:rPr lang="en-US" sz="1010" b="1" spc="100" kern="0" dirty="0">
                <a:solidFill>
                  <a:srgbClr val="585858"/>
                </a:solidFill>
                <a:latin typeface="Aptos" pitchFamily="34" charset="0"/>
                <a:ea typeface="Aptos" pitchFamily="34" charset="-122"/>
                <a:cs typeface="Aptos" pitchFamily="34" charset="-120"/>
              </a:rPr>
              <a:t>SIMULATED COMMERCIAL</a:t>
            </a:r>
            <a:endParaRPr lang="en-US" sz="1010" dirty="0"/>
          </a:p>
        </p:txBody>
      </p:sp>
      <p:sp>
        <p:nvSpPr>
          <p:cNvPr id="23" name="Shape 21"/>
          <p:cNvSpPr/>
          <p:nvPr/>
        </p:nvSpPr>
        <p:spPr>
          <a:xfrm>
            <a:off x="3703320" y="3191256"/>
            <a:ext cx="2386584" cy="0"/>
          </a:xfrm>
          <a:prstGeom prst="line">
            <a:avLst/>
          </a:prstGeom>
          <a:noFill/>
          <a:ln w="12700">
            <a:solidFill>
              <a:srgbClr val="D8D8D5"/>
            </a:solidFill>
            <a:prstDash val="solid"/>
          </a:ln>
        </p:spPr>
      </p:sp>
      <p:sp>
        <p:nvSpPr>
          <p:cNvPr id="24" name="Text 22"/>
          <p:cNvSpPr/>
          <p:nvPr/>
        </p:nvSpPr>
        <p:spPr>
          <a:xfrm>
            <a:off x="3712464" y="3374136"/>
            <a:ext cx="2414016" cy="283464"/>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rx_weekly</a:t>
            </a:r>
            <a:endParaRPr lang="en-US" sz="1260" dirty="0"/>
          </a:p>
        </p:txBody>
      </p:sp>
      <p:sp>
        <p:nvSpPr>
          <p:cNvPr id="25" name="Text 23"/>
          <p:cNvSpPr/>
          <p:nvPr/>
        </p:nvSpPr>
        <p:spPr>
          <a:xfrm>
            <a:off x="3712464" y="3730752"/>
            <a:ext cx="2414016" cy="283464"/>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access_status_monthly</a:t>
            </a:r>
            <a:endParaRPr lang="en-US" sz="1260" dirty="0"/>
          </a:p>
        </p:txBody>
      </p:sp>
      <p:sp>
        <p:nvSpPr>
          <p:cNvPr id="26" name="Text 24"/>
          <p:cNvSpPr/>
          <p:nvPr/>
        </p:nvSpPr>
        <p:spPr>
          <a:xfrm>
            <a:off x="3712464" y="4087368"/>
            <a:ext cx="2414016" cy="283464"/>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promo_activity</a:t>
            </a:r>
            <a:endParaRPr lang="en-US" sz="1260" dirty="0"/>
          </a:p>
        </p:txBody>
      </p:sp>
      <p:sp>
        <p:nvSpPr>
          <p:cNvPr id="27" name="Text 25"/>
          <p:cNvSpPr/>
          <p:nvPr/>
        </p:nvSpPr>
        <p:spPr>
          <a:xfrm>
            <a:off x="3712464" y="4443984"/>
            <a:ext cx="2414016" cy="283464"/>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inventory_weekly</a:t>
            </a:r>
            <a:endParaRPr lang="en-US" sz="1260" dirty="0"/>
          </a:p>
        </p:txBody>
      </p:sp>
      <p:sp>
        <p:nvSpPr>
          <p:cNvPr id="28" name="Shape 26"/>
          <p:cNvSpPr/>
          <p:nvPr/>
        </p:nvSpPr>
        <p:spPr>
          <a:xfrm>
            <a:off x="6455664" y="2395728"/>
            <a:ext cx="2788920" cy="3474720"/>
          </a:xfrm>
          <a:prstGeom prst="rect">
            <a:avLst>
              <a:gd name="adj" fmla="val 1967"/>
            </a:avLst>
          </a:prstGeom>
          <a:solidFill>
            <a:srgbClr val="FFFFFF"/>
          </a:solidFill>
          <a:ln w="10795">
            <a:solidFill>
              <a:srgbClr val="D8D8D5"/>
            </a:solidFill>
            <a:prstDash val="solid"/>
          </a:ln>
        </p:spPr>
      </p:sp>
      <p:sp>
        <p:nvSpPr>
          <p:cNvPr id="29" name="Text 27"/>
          <p:cNvSpPr/>
          <p:nvPr/>
        </p:nvSpPr>
        <p:spPr>
          <a:xfrm>
            <a:off x="6656832" y="2606040"/>
            <a:ext cx="731520" cy="466344"/>
          </a:xfrm>
          <a:prstGeom prst="rect">
            <a:avLst/>
          </a:prstGeom>
          <a:noFill/>
          <a:ln/>
        </p:spPr>
        <p:txBody>
          <a:bodyPr wrap="square" lIns="0" tIns="0" rIns="0" bIns="0" rtlCol="0" anchor="ctr">
            <a:normAutofit/>
          </a:bodyPr>
          <a:lstStyle/>
          <a:p>
            <a:pPr algn="l" indent="0" marL="0">
              <a:buNone/>
            </a:pPr>
            <a:r>
              <a:rPr lang="en-US" sz="2900" b="1" dirty="0">
                <a:solidFill>
                  <a:srgbClr val="191919"/>
                </a:solidFill>
                <a:latin typeface="Aptos" pitchFamily="34" charset="0"/>
                <a:ea typeface="Aptos" pitchFamily="34" charset="-122"/>
                <a:cs typeface="Aptos" pitchFamily="34" charset="-120"/>
              </a:rPr>
              <a:t>04</a:t>
            </a:r>
            <a:endParaRPr lang="en-US" sz="2900" dirty="0"/>
          </a:p>
        </p:txBody>
      </p:sp>
      <p:sp>
        <p:nvSpPr>
          <p:cNvPr id="30" name="Text 28"/>
          <p:cNvSpPr/>
          <p:nvPr/>
        </p:nvSpPr>
        <p:spPr>
          <a:xfrm>
            <a:off x="7406640" y="2816352"/>
            <a:ext cx="1673352" cy="201168"/>
          </a:xfrm>
          <a:prstGeom prst="rect">
            <a:avLst/>
          </a:prstGeom>
          <a:noFill/>
          <a:ln/>
        </p:spPr>
        <p:txBody>
          <a:bodyPr wrap="square" lIns="0" tIns="0" rIns="0" bIns="0" rtlCol="0" anchor="ctr">
            <a:normAutofit/>
          </a:bodyPr>
          <a:lstStyle/>
          <a:p>
            <a:pPr algn="l" indent="0" marL="0">
              <a:buNone/>
            </a:pPr>
            <a:r>
              <a:rPr lang="en-US" sz="1010" b="1" spc="100" kern="0" dirty="0">
                <a:solidFill>
                  <a:srgbClr val="585858"/>
                </a:solidFill>
                <a:latin typeface="Aptos" pitchFamily="34" charset="0"/>
                <a:ea typeface="Aptos" pitchFamily="34" charset="-122"/>
                <a:cs typeface="Aptos" pitchFamily="34" charset="-120"/>
              </a:rPr>
              <a:t>DERIVED OPERATIONS</a:t>
            </a:r>
            <a:endParaRPr lang="en-US" sz="1010" dirty="0"/>
          </a:p>
        </p:txBody>
      </p:sp>
      <p:sp>
        <p:nvSpPr>
          <p:cNvPr id="31" name="Shape 29"/>
          <p:cNvSpPr/>
          <p:nvPr/>
        </p:nvSpPr>
        <p:spPr>
          <a:xfrm>
            <a:off x="6656832" y="3191256"/>
            <a:ext cx="2386584" cy="0"/>
          </a:xfrm>
          <a:prstGeom prst="line">
            <a:avLst/>
          </a:prstGeom>
          <a:noFill/>
          <a:ln w="12700">
            <a:solidFill>
              <a:srgbClr val="D8D8D5"/>
            </a:solidFill>
            <a:prstDash val="solid"/>
          </a:ln>
        </p:spPr>
      </p:sp>
      <p:sp>
        <p:nvSpPr>
          <p:cNvPr id="32" name="Text 30"/>
          <p:cNvSpPr/>
          <p:nvPr/>
        </p:nvSpPr>
        <p:spPr>
          <a:xfrm>
            <a:off x="6665976" y="3374136"/>
            <a:ext cx="2414016" cy="283464"/>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market_share_weekly</a:t>
            </a:r>
            <a:endParaRPr lang="en-US" sz="1260" dirty="0"/>
          </a:p>
        </p:txBody>
      </p:sp>
      <p:sp>
        <p:nvSpPr>
          <p:cNvPr id="33" name="Text 31"/>
          <p:cNvSpPr/>
          <p:nvPr/>
        </p:nvSpPr>
        <p:spPr>
          <a:xfrm>
            <a:off x="6665976" y="3730752"/>
            <a:ext cx="2414016" cy="283464"/>
          </a:xfrm>
          <a:prstGeom prst="rect">
            <a:avLst/>
          </a:prstGeom>
          <a:noFill/>
          <a:ln/>
        </p:spPr>
        <p:txBody>
          <a:bodyPr wrap="square" lIns="0" tIns="0" rIns="0" bIns="0" rtlCol="0" anchor="ctr">
            <a:normAutofit/>
          </a:bodyPr>
          <a:lstStyle/>
          <a:p>
            <a:pPr algn="l" indent="0" marL="0">
              <a:buNone/>
            </a:pPr>
            <a:r>
              <a:rPr lang="en-US" sz="1150" dirty="0">
                <a:solidFill>
                  <a:srgbClr val="343434"/>
                </a:solidFill>
                <a:latin typeface="Aptos" pitchFamily="34" charset="0"/>
                <a:ea typeface="Aptos" pitchFamily="34" charset="-122"/>
                <a:cs typeface="Aptos" pitchFamily="34" charset="-120"/>
              </a:rPr>
              <a:t>forecast_vs_actual_weekly</a:t>
            </a:r>
            <a:endParaRPr lang="en-US" sz="1150" dirty="0"/>
          </a:p>
        </p:txBody>
      </p:sp>
      <p:sp>
        <p:nvSpPr>
          <p:cNvPr id="34" name="Text 32"/>
          <p:cNvSpPr/>
          <p:nvPr/>
        </p:nvSpPr>
        <p:spPr>
          <a:xfrm>
            <a:off x="6665976" y="4087368"/>
            <a:ext cx="2414016" cy="283464"/>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feed_metadata</a:t>
            </a:r>
            <a:endParaRPr lang="en-US" sz="1260" dirty="0"/>
          </a:p>
        </p:txBody>
      </p:sp>
      <p:sp>
        <p:nvSpPr>
          <p:cNvPr id="35" name="Text 33"/>
          <p:cNvSpPr/>
          <p:nvPr/>
        </p:nvSpPr>
        <p:spPr>
          <a:xfrm>
            <a:off x="6665976" y="4443984"/>
            <a:ext cx="2414016" cy="283464"/>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restatement_log</a:t>
            </a:r>
            <a:endParaRPr lang="en-US" sz="1260" dirty="0"/>
          </a:p>
        </p:txBody>
      </p:sp>
      <p:sp>
        <p:nvSpPr>
          <p:cNvPr id="36" name="Shape 34"/>
          <p:cNvSpPr/>
          <p:nvPr/>
        </p:nvSpPr>
        <p:spPr>
          <a:xfrm>
            <a:off x="9418320" y="2395728"/>
            <a:ext cx="2231136" cy="3474720"/>
          </a:xfrm>
          <a:prstGeom prst="rect">
            <a:avLst>
              <a:gd name="adj" fmla="val 2459"/>
            </a:avLst>
          </a:prstGeom>
          <a:solidFill>
            <a:srgbClr val="F0F0EE"/>
          </a:solidFill>
          <a:ln w="10795">
            <a:solidFill>
              <a:srgbClr val="D8D8D5"/>
            </a:solidFill>
            <a:prstDash val="solid"/>
          </a:ln>
        </p:spPr>
      </p:sp>
      <p:sp>
        <p:nvSpPr>
          <p:cNvPr id="37" name="Text 35"/>
          <p:cNvSpPr/>
          <p:nvPr/>
        </p:nvSpPr>
        <p:spPr>
          <a:xfrm>
            <a:off x="9610344" y="2606040"/>
            <a:ext cx="594360" cy="466344"/>
          </a:xfrm>
          <a:prstGeom prst="rect">
            <a:avLst/>
          </a:prstGeom>
          <a:noFill/>
          <a:ln/>
        </p:spPr>
        <p:txBody>
          <a:bodyPr wrap="square" lIns="0" tIns="0" rIns="0" bIns="0" rtlCol="0" anchor="ctr">
            <a:normAutofit/>
          </a:bodyPr>
          <a:lstStyle/>
          <a:p>
            <a:pPr algn="l" indent="0" marL="0">
              <a:buNone/>
            </a:pPr>
            <a:r>
              <a:rPr lang="en-US" sz="2900" b="1" dirty="0">
                <a:solidFill>
                  <a:srgbClr val="191919"/>
                </a:solidFill>
                <a:latin typeface="Aptos" pitchFamily="34" charset="0"/>
                <a:ea typeface="Aptos" pitchFamily="34" charset="-122"/>
                <a:cs typeface="Aptos" pitchFamily="34" charset="-120"/>
              </a:rPr>
              <a:t>03</a:t>
            </a:r>
            <a:endParaRPr lang="en-US" sz="2900" dirty="0"/>
          </a:p>
        </p:txBody>
      </p:sp>
      <p:sp>
        <p:nvSpPr>
          <p:cNvPr id="38" name="Text 36"/>
          <p:cNvSpPr/>
          <p:nvPr/>
        </p:nvSpPr>
        <p:spPr>
          <a:xfrm>
            <a:off x="10222992" y="2825496"/>
            <a:ext cx="1225296" cy="201168"/>
          </a:xfrm>
          <a:prstGeom prst="rect">
            <a:avLst/>
          </a:prstGeom>
          <a:noFill/>
          <a:ln/>
        </p:spPr>
        <p:txBody>
          <a:bodyPr wrap="square" lIns="0" tIns="0" rIns="0" bIns="0" rtlCol="0" anchor="ctr">
            <a:normAutofit/>
          </a:bodyPr>
          <a:lstStyle/>
          <a:p>
            <a:pPr algn="l" indent="0" marL="0">
              <a:buNone/>
            </a:pPr>
            <a:r>
              <a:rPr lang="en-US" sz="960" b="1" spc="100" kern="0" dirty="0">
                <a:solidFill>
                  <a:srgbClr val="585858"/>
                </a:solidFill>
                <a:latin typeface="Aptos" pitchFamily="34" charset="0"/>
                <a:ea typeface="Aptos" pitchFamily="34" charset="-122"/>
                <a:cs typeface="Aptos" pitchFamily="34" charset="-120"/>
              </a:rPr>
              <a:t>PRIVATE TRUTH</a:t>
            </a:r>
            <a:endParaRPr lang="en-US" sz="960" dirty="0"/>
          </a:p>
        </p:txBody>
      </p:sp>
      <p:sp>
        <p:nvSpPr>
          <p:cNvPr id="39" name="Shape 37"/>
          <p:cNvSpPr/>
          <p:nvPr/>
        </p:nvSpPr>
        <p:spPr>
          <a:xfrm>
            <a:off x="9610344" y="3191256"/>
            <a:ext cx="1847088" cy="0"/>
          </a:xfrm>
          <a:prstGeom prst="line">
            <a:avLst/>
          </a:prstGeom>
          <a:noFill/>
          <a:ln w="12700">
            <a:solidFill>
              <a:srgbClr val="D8D8D5"/>
            </a:solidFill>
            <a:prstDash val="solid"/>
          </a:ln>
        </p:spPr>
      </p:sp>
      <p:sp>
        <p:nvSpPr>
          <p:cNvPr id="40" name="Text 38"/>
          <p:cNvSpPr/>
          <p:nvPr/>
        </p:nvSpPr>
        <p:spPr>
          <a:xfrm>
            <a:off x="9610344" y="3456432"/>
            <a:ext cx="1847088" cy="1938528"/>
          </a:xfrm>
          <a:prstGeom prst="rect">
            <a:avLst/>
          </a:prstGeom>
          <a:noFill/>
          <a:ln/>
        </p:spPr>
        <p:txBody>
          <a:bodyPr wrap="square" lIns="0" tIns="0" rIns="0" bIns="0" rtlCol="0" anchor="t">
            <a:normAutofit/>
          </a:bodyPr>
          <a:lstStyle/>
          <a:p>
            <a:pPr algn="l" indent="0" marL="0">
              <a:buNone/>
            </a:pPr>
            <a:r>
              <a:rPr lang="en-US" sz="1350" dirty="0">
                <a:solidFill>
                  <a:srgbClr val="343434"/>
                </a:solidFill>
                <a:latin typeface="Aptos" pitchFamily="34" charset="0"/>
                <a:ea typeface="Aptos" pitchFamily="34" charset="-122"/>
                <a:cs typeface="Aptos" pitchFamily="34" charset="-120"/>
              </a:rPr>
              <a:t>Clean Rx</a:t>
            </a:r>
            <a:endParaRPr lang="en-US" sz="1350" dirty="0"/>
          </a:p>
          <a:p>
            <a:pPr algn="l" indent="0" marL="0">
              <a:buNone/>
            </a:pPr>
            <a:r>
              <a:rPr lang="en-US" sz="1350" dirty="0">
                <a:solidFill>
                  <a:srgbClr val="343434"/>
                </a:solidFill>
                <a:latin typeface="Aptos" pitchFamily="34" charset="0"/>
                <a:ea typeface="Aptos" pitchFamily="34" charset="-122"/>
                <a:cs typeface="Aptos" pitchFamily="34" charset="-120"/>
              </a:rPr>
              <a:t>before feed defects</a:t>
            </a:r>
            <a:endParaRPr lang="en-US" sz="1350" dirty="0"/>
          </a:p>
          <a:p>
            <a:pPr algn="l" indent="0" marL="0">
              <a:buNone/>
            </a:pPr>
            <a:endParaRPr lang="en-US" sz="1350" dirty="0"/>
          </a:p>
          <a:p>
            <a:pPr algn="l" indent="0" marL="0">
              <a:buNone/>
            </a:pPr>
            <a:r>
              <a:rPr lang="en-US" sz="1350" dirty="0">
                <a:solidFill>
                  <a:srgbClr val="343434"/>
                </a:solidFill>
                <a:latin typeface="Aptos" pitchFamily="34" charset="0"/>
                <a:ea typeface="Aptos" pitchFamily="34" charset="-122"/>
                <a:cs typeface="Aptos" pitchFamily="34" charset="-120"/>
              </a:rPr>
              <a:t>Simulator baselines</a:t>
            </a:r>
            <a:endParaRPr lang="en-US" sz="1350" dirty="0"/>
          </a:p>
          <a:p>
            <a:pPr algn="l" indent="0" marL="0">
              <a:buNone/>
            </a:pPr>
            <a:endParaRPr lang="en-US" sz="1350" dirty="0"/>
          </a:p>
          <a:p>
            <a:pPr algn="l" indent="0" marL="0">
              <a:buNone/>
            </a:pPr>
            <a:r>
              <a:rPr lang="en-US" sz="1350" dirty="0">
                <a:solidFill>
                  <a:srgbClr val="343434"/>
                </a:solidFill>
                <a:latin typeface="Aptos" pitchFamily="34" charset="0"/>
                <a:ea typeface="Aptos" pitchFamily="34" charset="-122"/>
                <a:cs typeface="Aptos" pitchFamily="34" charset="-120"/>
              </a:rPr>
              <a:t>Hidden event labels</a:t>
            </a:r>
            <a:endParaRPr lang="en-US" sz="1350" dirty="0"/>
          </a:p>
        </p:txBody>
      </p:sp>
      <p:sp>
        <p:nvSpPr>
          <p:cNvPr id="41" name="Text 39"/>
          <p:cNvSpPr/>
          <p:nvPr/>
        </p:nvSpPr>
        <p:spPr>
          <a:xfrm>
            <a:off x="557784" y="6089904"/>
            <a:ext cx="10881360" cy="265176"/>
          </a:xfrm>
          <a:prstGeom prst="rect">
            <a:avLst/>
          </a:prstGeom>
          <a:noFill/>
          <a:ln/>
        </p:spPr>
        <p:txBody>
          <a:bodyPr wrap="square" lIns="0" tIns="0" rIns="0" bIns="0" rtlCol="0" anchor="ctr">
            <a:normAutofit/>
          </a:bodyPr>
          <a:lstStyle/>
          <a:p>
            <a:pPr algn="l" indent="0" marL="0">
              <a:buNone/>
            </a:pPr>
            <a:r>
              <a:rPr lang="en-US" sz="1320" dirty="0">
                <a:solidFill>
                  <a:srgbClr val="585858"/>
                </a:solidFill>
                <a:latin typeface="Aptos" pitchFamily="34" charset="0"/>
                <a:ea typeface="Aptos" pitchFamily="34" charset="-122"/>
                <a:cs typeface="Aptos" pitchFamily="34" charset="-120"/>
              </a:rPr>
              <a:t>Private files are excluded from agent tools and evaluation prompts.</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310896"/>
            <a:ext cx="7315200" cy="201168"/>
          </a:xfrm>
          <a:prstGeom prst="rect">
            <a:avLst/>
          </a:prstGeom>
          <a:noFill/>
          <a:ln/>
        </p:spPr>
        <p:txBody>
          <a:bodyPr wrap="square" lIns="0" tIns="0" rIns="0" bIns="0" rtlCol="0" anchor="ctr">
            <a:normAutofit/>
          </a:bodyPr>
          <a:lstStyle/>
          <a:p>
            <a:pPr algn="l" indent="0" marL="0">
              <a:buNone/>
            </a:pPr>
            <a:r>
              <a:rPr lang="en-US" sz="1000" b="1" spc="160" kern="0" dirty="0">
                <a:solidFill>
                  <a:srgbClr val="737373"/>
                </a:solidFill>
                <a:latin typeface="Aptos" pitchFamily="34" charset="0"/>
                <a:ea typeface="Aptos" pitchFamily="34" charset="-122"/>
                <a:cs typeface="Aptos" pitchFamily="34" charset="-120"/>
              </a:rPr>
              <a:t>PHARMAGENTICS  /  RESEARCH UPDATE</a:t>
            </a:r>
            <a:endParaRPr lang="en-US" sz="1000" dirty="0"/>
          </a:p>
        </p:txBody>
      </p:sp>
      <p:sp>
        <p:nvSpPr>
          <p:cNvPr id="3" name="Text 1"/>
          <p:cNvSpPr/>
          <p:nvPr/>
        </p:nvSpPr>
        <p:spPr>
          <a:xfrm>
            <a:off x="10744200" y="310896"/>
            <a:ext cx="896112" cy="201168"/>
          </a:xfrm>
          <a:prstGeom prst="rect">
            <a:avLst/>
          </a:prstGeom>
          <a:noFill/>
          <a:ln/>
        </p:spPr>
        <p:txBody>
          <a:bodyPr wrap="square" lIns="0" tIns="0" rIns="0" bIns="0" rtlCol="0" anchor="ctr">
            <a:normAutofit/>
          </a:bodyPr>
          <a:lstStyle/>
          <a:p>
            <a:pPr algn="r" indent="0" marL="0">
              <a:buNone/>
            </a:pPr>
            <a:r>
              <a:rPr lang="en-US" sz="1000" dirty="0">
                <a:solidFill>
                  <a:srgbClr val="737373"/>
                </a:solidFill>
                <a:latin typeface="Aptos" pitchFamily="34" charset="0"/>
                <a:ea typeface="Aptos" pitchFamily="34" charset="-122"/>
                <a:cs typeface="Aptos" pitchFamily="34" charset="-120"/>
              </a:rPr>
              <a:t>03 / 06</a:t>
            </a:r>
            <a:endParaRPr lang="en-US" sz="1000" dirty="0"/>
          </a:p>
        </p:txBody>
      </p:sp>
      <p:sp>
        <p:nvSpPr>
          <p:cNvPr id="4" name="Shape 2"/>
          <p:cNvSpPr/>
          <p:nvPr/>
        </p:nvSpPr>
        <p:spPr>
          <a:xfrm>
            <a:off x="548640" y="630936"/>
            <a:ext cx="11082528" cy="0"/>
          </a:xfrm>
          <a:prstGeom prst="line">
            <a:avLst/>
          </a:prstGeom>
          <a:noFill/>
          <a:ln w="12700">
            <a:solidFill>
              <a:srgbClr val="D8D8D5"/>
            </a:solidFill>
            <a:prstDash val="solid"/>
          </a:ln>
        </p:spPr>
      </p:sp>
      <p:sp>
        <p:nvSpPr>
          <p:cNvPr id="5" name="Text 3"/>
          <p:cNvSpPr/>
          <p:nvPr/>
        </p:nvSpPr>
        <p:spPr>
          <a:xfrm>
            <a:off x="548640" y="832104"/>
            <a:ext cx="8229600" cy="182880"/>
          </a:xfrm>
          <a:prstGeom prst="rect">
            <a:avLst/>
          </a:prstGeom>
          <a:noFill/>
          <a:ln/>
        </p:spPr>
        <p:txBody>
          <a:bodyPr wrap="square" lIns="0" tIns="0" rIns="0" bIns="0" rtlCol="0" anchor="ctr">
            <a:normAutofit/>
          </a:bodyPr>
          <a:lstStyle/>
          <a:p>
            <a:pPr algn="l" indent="0" marL="0">
              <a:buNone/>
            </a:pPr>
            <a:r>
              <a:rPr lang="en-US" sz="1050" b="1" spc="140" kern="0" dirty="0">
                <a:solidFill>
                  <a:srgbClr val="585858"/>
                </a:solidFill>
                <a:latin typeface="Aptos" pitchFamily="34" charset="0"/>
                <a:ea typeface="Aptos" pitchFamily="34" charset="-122"/>
                <a:cs typeface="Aptos" pitchFamily="34" charset="-120"/>
              </a:rPr>
              <a:t>GENERATION PIPELINE</a:t>
            </a:r>
            <a:endParaRPr lang="en-US" sz="1050" dirty="0"/>
          </a:p>
        </p:txBody>
      </p:sp>
      <p:sp>
        <p:nvSpPr>
          <p:cNvPr id="6" name="Text 4"/>
          <p:cNvSpPr/>
          <p:nvPr/>
        </p:nvSpPr>
        <p:spPr>
          <a:xfrm>
            <a:off x="548640" y="1124712"/>
            <a:ext cx="11064240" cy="521208"/>
          </a:xfrm>
          <a:prstGeom prst="rect">
            <a:avLst/>
          </a:prstGeom>
          <a:noFill/>
          <a:ln/>
        </p:spPr>
        <p:txBody>
          <a:bodyPr wrap="square" lIns="0" tIns="0" rIns="0" bIns="0" rtlCol="0" anchor="ctr">
            <a:normAutofit/>
          </a:bodyPr>
          <a:lstStyle/>
          <a:p>
            <a:pPr algn="l" indent="0" marL="0">
              <a:buNone/>
            </a:pPr>
            <a:r>
              <a:rPr lang="en-US" sz="3050" b="1" dirty="0">
                <a:solidFill>
                  <a:srgbClr val="191919"/>
                </a:solidFill>
                <a:latin typeface="Aptos Display" pitchFamily="34" charset="0"/>
                <a:ea typeface="Aptos Display" pitchFamily="34" charset="-122"/>
                <a:cs typeface="Aptos Display" pitchFamily="34" charset="-120"/>
              </a:rPr>
              <a:t>How v0 actually produces the data</a:t>
            </a:r>
            <a:endParaRPr lang="en-US" sz="3050" dirty="0"/>
          </a:p>
        </p:txBody>
      </p:sp>
      <p:sp>
        <p:nvSpPr>
          <p:cNvPr id="7" name="Text 5"/>
          <p:cNvSpPr/>
          <p:nvPr/>
        </p:nvSpPr>
        <p:spPr>
          <a:xfrm>
            <a:off x="548640" y="1755648"/>
            <a:ext cx="11018520" cy="411480"/>
          </a:xfrm>
          <a:prstGeom prst="rect">
            <a:avLst/>
          </a:prstGeom>
          <a:noFill/>
          <a:ln/>
        </p:spPr>
        <p:txBody>
          <a:bodyPr wrap="square" lIns="0" tIns="0" rIns="0" bIns="0" rtlCol="0" anchor="ctr">
            <a:normAutofit/>
          </a:bodyPr>
          <a:lstStyle/>
          <a:p>
            <a:pPr algn="l" indent="0" marL="0">
              <a:buNone/>
            </a:pPr>
            <a:r>
              <a:rPr lang="en-US" sz="1400" dirty="0">
                <a:solidFill>
                  <a:srgbClr val="585858"/>
                </a:solidFill>
                <a:latin typeface="Aptos" pitchFamily="34" charset="0"/>
                <a:ea typeface="Aptos" pitchFamily="34" charset="-122"/>
                <a:cs typeface="Aptos" pitchFamily="34" charset="-120"/>
              </a:rPr>
              <a:t>Python and NumPy generate a connected stochastic market with controlled interventions.</a:t>
            </a:r>
            <a:endParaRPr lang="en-US" sz="1400" dirty="0"/>
          </a:p>
        </p:txBody>
      </p:sp>
      <p:sp>
        <p:nvSpPr>
          <p:cNvPr id="8" name="Shape 6"/>
          <p:cNvSpPr/>
          <p:nvPr/>
        </p:nvSpPr>
        <p:spPr>
          <a:xfrm>
            <a:off x="548640" y="6483096"/>
            <a:ext cx="11082528" cy="0"/>
          </a:xfrm>
          <a:prstGeom prst="line">
            <a:avLst/>
          </a:prstGeom>
          <a:noFill/>
          <a:ln w="12700">
            <a:solidFill>
              <a:srgbClr val="D8D8D5"/>
            </a:solidFill>
            <a:prstDash val="solid"/>
          </a:ln>
        </p:spPr>
      </p:sp>
      <p:sp>
        <p:nvSpPr>
          <p:cNvPr id="9" name="Text 7"/>
          <p:cNvSpPr/>
          <p:nvPr/>
        </p:nvSpPr>
        <p:spPr>
          <a:xfrm>
            <a:off x="548640" y="6565392"/>
            <a:ext cx="8229600" cy="146304"/>
          </a:xfrm>
          <a:prstGeom prst="rect">
            <a:avLst/>
          </a:prstGeom>
          <a:noFill/>
          <a:ln/>
        </p:spPr>
        <p:txBody>
          <a:bodyPr wrap="square" lIns="0" tIns="0" rIns="0" bIns="0" rtlCol="0" anchor="ctr">
            <a:normAutofit/>
          </a:bodyPr>
          <a:lstStyle/>
          <a:p>
            <a:pPr algn="l" indent="0" marL="0">
              <a:buNone/>
            </a:pPr>
            <a:r>
              <a:rPr lang="en-US" sz="900" dirty="0">
                <a:solidFill>
                  <a:srgbClr val="737373"/>
                </a:solidFill>
                <a:latin typeface="Aptos" pitchFamily="34" charset="0"/>
                <a:ea typeface="Aptos" pitchFamily="34" charset="-122"/>
                <a:cs typeface="Aptos" pitchFamily="34" charset="-120"/>
              </a:rPr>
              <a:t>SYNTHETIC DATA METHODOLOGY  ·  OCT 2026</a:t>
            </a:r>
            <a:endParaRPr lang="en-US" sz="900" dirty="0"/>
          </a:p>
        </p:txBody>
      </p:sp>
      <p:sp>
        <p:nvSpPr>
          <p:cNvPr id="10" name="Shape 8"/>
          <p:cNvSpPr/>
          <p:nvPr/>
        </p:nvSpPr>
        <p:spPr>
          <a:xfrm>
            <a:off x="548640" y="2523744"/>
            <a:ext cx="1947672" cy="2011680"/>
          </a:xfrm>
          <a:prstGeom prst="rect">
            <a:avLst>
              <a:gd name="adj" fmla="val 2817"/>
            </a:avLst>
          </a:prstGeom>
          <a:solidFill>
            <a:srgbClr val="FFFFFF"/>
          </a:solidFill>
          <a:ln w="10795">
            <a:solidFill>
              <a:srgbClr val="D8D8D5"/>
            </a:solidFill>
            <a:prstDash val="solid"/>
          </a:ln>
        </p:spPr>
      </p:sp>
      <p:sp>
        <p:nvSpPr>
          <p:cNvPr id="11" name="Text 9"/>
          <p:cNvSpPr/>
          <p:nvPr/>
        </p:nvSpPr>
        <p:spPr>
          <a:xfrm>
            <a:off x="704088" y="2706624"/>
            <a:ext cx="530352" cy="347472"/>
          </a:xfrm>
          <a:prstGeom prst="rect">
            <a:avLst/>
          </a:prstGeom>
          <a:noFill/>
          <a:ln/>
        </p:spPr>
        <p:txBody>
          <a:bodyPr wrap="square" lIns="0" tIns="0" rIns="0" bIns="0" rtlCol="0" anchor="ctr">
            <a:normAutofit/>
          </a:bodyPr>
          <a:lstStyle/>
          <a:p>
            <a:pPr algn="l" indent="0" marL="0">
              <a:buNone/>
            </a:pPr>
            <a:r>
              <a:rPr lang="en-US" sz="2200" b="1" dirty="0">
                <a:solidFill>
                  <a:srgbClr val="191919"/>
                </a:solidFill>
                <a:latin typeface="Aptos" pitchFamily="34" charset="0"/>
                <a:ea typeface="Aptos" pitchFamily="34" charset="-122"/>
                <a:cs typeface="Aptos" pitchFamily="34" charset="-120"/>
              </a:rPr>
              <a:t>01</a:t>
            </a:r>
            <a:endParaRPr lang="en-US" sz="2200" dirty="0"/>
          </a:p>
        </p:txBody>
      </p:sp>
      <p:sp>
        <p:nvSpPr>
          <p:cNvPr id="12" name="Text 10"/>
          <p:cNvSpPr/>
          <p:nvPr/>
        </p:nvSpPr>
        <p:spPr>
          <a:xfrm>
            <a:off x="704088" y="3209544"/>
            <a:ext cx="1673352" cy="292608"/>
          </a:xfrm>
          <a:prstGeom prst="rect">
            <a:avLst/>
          </a:prstGeom>
          <a:noFill/>
          <a:ln/>
        </p:spPr>
        <p:txBody>
          <a:bodyPr wrap="square" lIns="0" tIns="0" rIns="0" bIns="0" rtlCol="0" anchor="ctr">
            <a:normAutofit/>
          </a:bodyPr>
          <a:lstStyle/>
          <a:p>
            <a:pPr algn="l" indent="0" marL="0">
              <a:buNone/>
            </a:pPr>
            <a:r>
              <a:rPr lang="en-US" sz="1550" b="1" dirty="0">
                <a:solidFill>
                  <a:srgbClr val="191919"/>
                </a:solidFill>
                <a:latin typeface="Aptos" pitchFamily="34" charset="0"/>
                <a:ea typeface="Aptos" pitchFamily="34" charset="-122"/>
                <a:cs typeface="Aptos" pitchFamily="34" charset="-120"/>
              </a:rPr>
              <a:t>Define market</a:t>
            </a:r>
            <a:endParaRPr lang="en-US" sz="1550" dirty="0"/>
          </a:p>
        </p:txBody>
      </p:sp>
      <p:sp>
        <p:nvSpPr>
          <p:cNvPr id="13" name="Text 11"/>
          <p:cNvSpPr/>
          <p:nvPr/>
        </p:nvSpPr>
        <p:spPr>
          <a:xfrm>
            <a:off x="704088" y="3648456"/>
            <a:ext cx="1618488" cy="685800"/>
          </a:xfrm>
          <a:prstGeom prst="rect">
            <a:avLst/>
          </a:prstGeom>
          <a:noFill/>
          <a:ln/>
        </p:spPr>
        <p:txBody>
          <a:bodyPr wrap="square" lIns="0" tIns="0" rIns="0" bIns="0" rtlCol="0" anchor="t">
            <a:normAutofit/>
          </a:bodyPr>
          <a:lstStyle/>
          <a:p>
            <a:pPr algn="l" indent="0" marL="0">
              <a:buNone/>
            </a:pPr>
            <a:r>
              <a:rPr lang="en-US" sz="1260" dirty="0">
                <a:solidFill>
                  <a:srgbClr val="585858"/>
                </a:solidFill>
                <a:latin typeface="Aptos" pitchFamily="34" charset="0"/>
                <a:ea typeface="Aptos" pitchFamily="34" charset="-122"/>
                <a:cs typeface="Aptos" pitchFamily="34" charset="-120"/>
              </a:rPr>
              <a:t>Weeks, plans, regions, HCPs, products</a:t>
            </a:r>
            <a:endParaRPr lang="en-US" sz="1260" dirty="0"/>
          </a:p>
        </p:txBody>
      </p:sp>
      <p:sp>
        <p:nvSpPr>
          <p:cNvPr id="14" name="Text 12"/>
          <p:cNvSpPr/>
          <p:nvPr/>
        </p:nvSpPr>
        <p:spPr>
          <a:xfrm>
            <a:off x="2532888" y="3218688"/>
            <a:ext cx="292608" cy="320040"/>
          </a:xfrm>
          <a:prstGeom prst="rect">
            <a:avLst/>
          </a:prstGeom>
          <a:noFill/>
          <a:ln/>
        </p:spPr>
        <p:txBody>
          <a:bodyPr wrap="square" lIns="0" tIns="0" rIns="0" bIns="0" rtlCol="0" anchor="ctr">
            <a:normAutofit/>
          </a:bodyPr>
          <a:lstStyle/>
          <a:p>
            <a:pPr algn="ctr" indent="0" marL="0">
              <a:buNone/>
            </a:pPr>
            <a:r>
              <a:rPr lang="en-US" sz="2100" dirty="0">
                <a:solidFill>
                  <a:srgbClr val="737373"/>
                </a:solidFill>
                <a:latin typeface="Aptos" pitchFamily="34" charset="0"/>
                <a:ea typeface="Aptos" pitchFamily="34" charset="-122"/>
                <a:cs typeface="Aptos" pitchFamily="34" charset="-120"/>
              </a:rPr>
              <a:t>→</a:t>
            </a:r>
            <a:endParaRPr lang="en-US" sz="2100" dirty="0"/>
          </a:p>
        </p:txBody>
      </p:sp>
      <p:sp>
        <p:nvSpPr>
          <p:cNvPr id="15" name="Shape 13"/>
          <p:cNvSpPr/>
          <p:nvPr/>
        </p:nvSpPr>
        <p:spPr>
          <a:xfrm>
            <a:off x="2834640" y="2523744"/>
            <a:ext cx="1947672" cy="2011680"/>
          </a:xfrm>
          <a:prstGeom prst="rect">
            <a:avLst>
              <a:gd name="adj" fmla="val 2817"/>
            </a:avLst>
          </a:prstGeom>
          <a:solidFill>
            <a:srgbClr val="FFFFFF"/>
          </a:solidFill>
          <a:ln w="10795">
            <a:solidFill>
              <a:srgbClr val="D8D8D5"/>
            </a:solidFill>
            <a:prstDash val="solid"/>
          </a:ln>
        </p:spPr>
      </p:sp>
      <p:sp>
        <p:nvSpPr>
          <p:cNvPr id="16" name="Text 14"/>
          <p:cNvSpPr/>
          <p:nvPr/>
        </p:nvSpPr>
        <p:spPr>
          <a:xfrm>
            <a:off x="2990088" y="2706624"/>
            <a:ext cx="530352" cy="347472"/>
          </a:xfrm>
          <a:prstGeom prst="rect">
            <a:avLst/>
          </a:prstGeom>
          <a:noFill/>
          <a:ln/>
        </p:spPr>
        <p:txBody>
          <a:bodyPr wrap="square" lIns="0" tIns="0" rIns="0" bIns="0" rtlCol="0" anchor="ctr">
            <a:normAutofit/>
          </a:bodyPr>
          <a:lstStyle/>
          <a:p>
            <a:pPr algn="l" indent="0" marL="0">
              <a:buNone/>
            </a:pPr>
            <a:r>
              <a:rPr lang="en-US" sz="2200" b="1" dirty="0">
                <a:solidFill>
                  <a:srgbClr val="191919"/>
                </a:solidFill>
                <a:latin typeface="Aptos" pitchFamily="34" charset="0"/>
                <a:ea typeface="Aptos" pitchFamily="34" charset="-122"/>
                <a:cs typeface="Aptos" pitchFamily="34" charset="-120"/>
              </a:rPr>
              <a:t>02</a:t>
            </a:r>
            <a:endParaRPr lang="en-US" sz="2200" dirty="0"/>
          </a:p>
        </p:txBody>
      </p:sp>
      <p:sp>
        <p:nvSpPr>
          <p:cNvPr id="17" name="Text 15"/>
          <p:cNvSpPr/>
          <p:nvPr/>
        </p:nvSpPr>
        <p:spPr>
          <a:xfrm>
            <a:off x="2990088" y="3209544"/>
            <a:ext cx="1673352" cy="292608"/>
          </a:xfrm>
          <a:prstGeom prst="rect">
            <a:avLst/>
          </a:prstGeom>
          <a:noFill/>
          <a:ln/>
        </p:spPr>
        <p:txBody>
          <a:bodyPr wrap="square" lIns="0" tIns="0" rIns="0" bIns="0" rtlCol="0" anchor="ctr">
            <a:normAutofit/>
          </a:bodyPr>
          <a:lstStyle/>
          <a:p>
            <a:pPr algn="l" indent="0" marL="0">
              <a:buNone/>
            </a:pPr>
            <a:r>
              <a:rPr lang="en-US" sz="1550" b="1" dirty="0">
                <a:solidFill>
                  <a:srgbClr val="191919"/>
                </a:solidFill>
                <a:latin typeface="Aptos" pitchFamily="34" charset="0"/>
                <a:ea typeface="Aptos" pitchFamily="34" charset="-122"/>
                <a:cs typeface="Aptos" pitchFamily="34" charset="-120"/>
              </a:rPr>
              <a:t>Create baseline</a:t>
            </a:r>
            <a:endParaRPr lang="en-US" sz="1550" dirty="0"/>
          </a:p>
        </p:txBody>
      </p:sp>
      <p:sp>
        <p:nvSpPr>
          <p:cNvPr id="18" name="Text 16"/>
          <p:cNvSpPr/>
          <p:nvPr/>
        </p:nvSpPr>
        <p:spPr>
          <a:xfrm>
            <a:off x="2990088" y="3648456"/>
            <a:ext cx="1618488" cy="685800"/>
          </a:xfrm>
          <a:prstGeom prst="rect">
            <a:avLst/>
          </a:prstGeom>
          <a:noFill/>
          <a:ln/>
        </p:spPr>
        <p:txBody>
          <a:bodyPr wrap="square" lIns="0" tIns="0" rIns="0" bIns="0" rtlCol="0" anchor="t">
            <a:normAutofit/>
          </a:bodyPr>
          <a:lstStyle/>
          <a:p>
            <a:pPr algn="l" indent="0" marL="0">
              <a:buNone/>
            </a:pPr>
            <a:r>
              <a:rPr lang="en-US" sz="1260" dirty="0">
                <a:solidFill>
                  <a:srgbClr val="585858"/>
                </a:solidFill>
                <a:latin typeface="Aptos" pitchFamily="34" charset="0"/>
                <a:ea typeface="Aptos" pitchFamily="34" charset="-122"/>
                <a:cs typeface="Aptos" pitchFamily="34" charset="-120"/>
              </a:rPr>
              <a:t>Volume weights, trend, holidays, seasonality</a:t>
            </a:r>
            <a:endParaRPr lang="en-US" sz="1260" dirty="0"/>
          </a:p>
        </p:txBody>
      </p:sp>
      <p:sp>
        <p:nvSpPr>
          <p:cNvPr id="19" name="Text 17"/>
          <p:cNvSpPr/>
          <p:nvPr/>
        </p:nvSpPr>
        <p:spPr>
          <a:xfrm>
            <a:off x="4818888" y="3218688"/>
            <a:ext cx="292608" cy="320040"/>
          </a:xfrm>
          <a:prstGeom prst="rect">
            <a:avLst/>
          </a:prstGeom>
          <a:noFill/>
          <a:ln/>
        </p:spPr>
        <p:txBody>
          <a:bodyPr wrap="square" lIns="0" tIns="0" rIns="0" bIns="0" rtlCol="0" anchor="ctr">
            <a:normAutofit/>
          </a:bodyPr>
          <a:lstStyle/>
          <a:p>
            <a:pPr algn="ctr" indent="0" marL="0">
              <a:buNone/>
            </a:pPr>
            <a:r>
              <a:rPr lang="en-US" sz="2100" dirty="0">
                <a:solidFill>
                  <a:srgbClr val="737373"/>
                </a:solidFill>
                <a:latin typeface="Aptos" pitchFamily="34" charset="0"/>
                <a:ea typeface="Aptos" pitchFamily="34" charset="-122"/>
                <a:cs typeface="Aptos" pitchFamily="34" charset="-120"/>
              </a:rPr>
              <a:t>→</a:t>
            </a:r>
            <a:endParaRPr lang="en-US" sz="2100" dirty="0"/>
          </a:p>
        </p:txBody>
      </p:sp>
      <p:sp>
        <p:nvSpPr>
          <p:cNvPr id="20" name="Shape 18"/>
          <p:cNvSpPr/>
          <p:nvPr/>
        </p:nvSpPr>
        <p:spPr>
          <a:xfrm>
            <a:off x="5120640" y="2523744"/>
            <a:ext cx="1947672" cy="2011680"/>
          </a:xfrm>
          <a:prstGeom prst="rect">
            <a:avLst>
              <a:gd name="adj" fmla="val 2817"/>
            </a:avLst>
          </a:prstGeom>
          <a:solidFill>
            <a:srgbClr val="FFFFFF"/>
          </a:solidFill>
          <a:ln w="10795">
            <a:solidFill>
              <a:srgbClr val="D8D8D5"/>
            </a:solidFill>
            <a:prstDash val="solid"/>
          </a:ln>
        </p:spPr>
      </p:sp>
      <p:sp>
        <p:nvSpPr>
          <p:cNvPr id="21" name="Text 19"/>
          <p:cNvSpPr/>
          <p:nvPr/>
        </p:nvSpPr>
        <p:spPr>
          <a:xfrm>
            <a:off x="5276088" y="2706624"/>
            <a:ext cx="530352" cy="347472"/>
          </a:xfrm>
          <a:prstGeom prst="rect">
            <a:avLst/>
          </a:prstGeom>
          <a:noFill/>
          <a:ln/>
        </p:spPr>
        <p:txBody>
          <a:bodyPr wrap="square" lIns="0" tIns="0" rIns="0" bIns="0" rtlCol="0" anchor="ctr">
            <a:normAutofit/>
          </a:bodyPr>
          <a:lstStyle/>
          <a:p>
            <a:pPr algn="l" indent="0" marL="0">
              <a:buNone/>
            </a:pPr>
            <a:r>
              <a:rPr lang="en-US" sz="2200" b="1" dirty="0">
                <a:solidFill>
                  <a:srgbClr val="191919"/>
                </a:solidFill>
                <a:latin typeface="Aptos" pitchFamily="34" charset="0"/>
                <a:ea typeface="Aptos" pitchFamily="34" charset="-122"/>
                <a:cs typeface="Aptos" pitchFamily="34" charset="-120"/>
              </a:rPr>
              <a:t>03</a:t>
            </a:r>
            <a:endParaRPr lang="en-US" sz="2200" dirty="0"/>
          </a:p>
        </p:txBody>
      </p:sp>
      <p:sp>
        <p:nvSpPr>
          <p:cNvPr id="22" name="Text 20"/>
          <p:cNvSpPr/>
          <p:nvPr/>
        </p:nvSpPr>
        <p:spPr>
          <a:xfrm>
            <a:off x="5276088" y="3209544"/>
            <a:ext cx="1673352" cy="292608"/>
          </a:xfrm>
          <a:prstGeom prst="rect">
            <a:avLst/>
          </a:prstGeom>
          <a:noFill/>
          <a:ln/>
        </p:spPr>
        <p:txBody>
          <a:bodyPr wrap="square" lIns="0" tIns="0" rIns="0" bIns="0" rtlCol="0" anchor="ctr">
            <a:normAutofit/>
          </a:bodyPr>
          <a:lstStyle/>
          <a:p>
            <a:pPr algn="l" indent="0" marL="0">
              <a:buNone/>
            </a:pPr>
            <a:r>
              <a:rPr lang="en-US" sz="1550" b="1" dirty="0">
                <a:solidFill>
                  <a:srgbClr val="191919"/>
                </a:solidFill>
                <a:latin typeface="Aptos" pitchFamily="34" charset="0"/>
                <a:ea typeface="Aptos" pitchFamily="34" charset="-122"/>
                <a:cs typeface="Aptos" pitchFamily="34" charset="-120"/>
              </a:rPr>
              <a:t>Sample counts</a:t>
            </a:r>
            <a:endParaRPr lang="en-US" sz="1550" dirty="0"/>
          </a:p>
        </p:txBody>
      </p:sp>
      <p:sp>
        <p:nvSpPr>
          <p:cNvPr id="23" name="Text 21"/>
          <p:cNvSpPr/>
          <p:nvPr/>
        </p:nvSpPr>
        <p:spPr>
          <a:xfrm>
            <a:off x="5276088" y="3648456"/>
            <a:ext cx="1618488" cy="685800"/>
          </a:xfrm>
          <a:prstGeom prst="rect">
            <a:avLst/>
          </a:prstGeom>
          <a:noFill/>
          <a:ln/>
        </p:spPr>
        <p:txBody>
          <a:bodyPr wrap="square" lIns="0" tIns="0" rIns="0" bIns="0" rtlCol="0" anchor="t">
            <a:normAutofit/>
          </a:bodyPr>
          <a:lstStyle/>
          <a:p>
            <a:pPr algn="l" indent="0" marL="0">
              <a:buNone/>
            </a:pPr>
            <a:r>
              <a:rPr lang="en-US" sz="1260" dirty="0">
                <a:solidFill>
                  <a:srgbClr val="585858"/>
                </a:solidFill>
                <a:latin typeface="Aptos" pitchFamily="34" charset="0"/>
                <a:ea typeface="Aptos" pitchFamily="34" charset="-122"/>
                <a:cs typeface="Aptos" pitchFamily="34" charset="-120"/>
              </a:rPr>
              <a:t>Gamma–Poisson TRx; binomial NRx / NBRx</a:t>
            </a:r>
            <a:endParaRPr lang="en-US" sz="1260" dirty="0"/>
          </a:p>
        </p:txBody>
      </p:sp>
      <p:sp>
        <p:nvSpPr>
          <p:cNvPr id="24" name="Text 22"/>
          <p:cNvSpPr/>
          <p:nvPr/>
        </p:nvSpPr>
        <p:spPr>
          <a:xfrm>
            <a:off x="7104888" y="3218688"/>
            <a:ext cx="292608" cy="320040"/>
          </a:xfrm>
          <a:prstGeom prst="rect">
            <a:avLst/>
          </a:prstGeom>
          <a:noFill/>
          <a:ln/>
        </p:spPr>
        <p:txBody>
          <a:bodyPr wrap="square" lIns="0" tIns="0" rIns="0" bIns="0" rtlCol="0" anchor="ctr">
            <a:normAutofit/>
          </a:bodyPr>
          <a:lstStyle/>
          <a:p>
            <a:pPr algn="ctr" indent="0" marL="0">
              <a:buNone/>
            </a:pPr>
            <a:r>
              <a:rPr lang="en-US" sz="2100" dirty="0">
                <a:solidFill>
                  <a:srgbClr val="737373"/>
                </a:solidFill>
                <a:latin typeface="Aptos" pitchFamily="34" charset="0"/>
                <a:ea typeface="Aptos" pitchFamily="34" charset="-122"/>
                <a:cs typeface="Aptos" pitchFamily="34" charset="-120"/>
              </a:rPr>
              <a:t>→</a:t>
            </a:r>
            <a:endParaRPr lang="en-US" sz="2100" dirty="0"/>
          </a:p>
        </p:txBody>
      </p:sp>
      <p:sp>
        <p:nvSpPr>
          <p:cNvPr id="25" name="Shape 23"/>
          <p:cNvSpPr/>
          <p:nvPr/>
        </p:nvSpPr>
        <p:spPr>
          <a:xfrm>
            <a:off x="7406640" y="2523744"/>
            <a:ext cx="1947672" cy="2011680"/>
          </a:xfrm>
          <a:prstGeom prst="rect">
            <a:avLst>
              <a:gd name="adj" fmla="val 2817"/>
            </a:avLst>
          </a:prstGeom>
          <a:solidFill>
            <a:srgbClr val="FFFFFF"/>
          </a:solidFill>
          <a:ln w="10795">
            <a:solidFill>
              <a:srgbClr val="D8D8D5"/>
            </a:solidFill>
            <a:prstDash val="solid"/>
          </a:ln>
        </p:spPr>
      </p:sp>
      <p:sp>
        <p:nvSpPr>
          <p:cNvPr id="26" name="Text 24"/>
          <p:cNvSpPr/>
          <p:nvPr/>
        </p:nvSpPr>
        <p:spPr>
          <a:xfrm>
            <a:off x="7562088" y="2706624"/>
            <a:ext cx="530352" cy="347472"/>
          </a:xfrm>
          <a:prstGeom prst="rect">
            <a:avLst/>
          </a:prstGeom>
          <a:noFill/>
          <a:ln/>
        </p:spPr>
        <p:txBody>
          <a:bodyPr wrap="square" lIns="0" tIns="0" rIns="0" bIns="0" rtlCol="0" anchor="ctr">
            <a:normAutofit/>
          </a:bodyPr>
          <a:lstStyle/>
          <a:p>
            <a:pPr algn="l" indent="0" marL="0">
              <a:buNone/>
            </a:pPr>
            <a:r>
              <a:rPr lang="en-US" sz="2200" b="1" dirty="0">
                <a:solidFill>
                  <a:srgbClr val="191919"/>
                </a:solidFill>
                <a:latin typeface="Aptos" pitchFamily="34" charset="0"/>
                <a:ea typeface="Aptos" pitchFamily="34" charset="-122"/>
                <a:cs typeface="Aptos" pitchFamily="34" charset="-120"/>
              </a:rPr>
              <a:t>04</a:t>
            </a:r>
            <a:endParaRPr lang="en-US" sz="2200" dirty="0"/>
          </a:p>
        </p:txBody>
      </p:sp>
      <p:sp>
        <p:nvSpPr>
          <p:cNvPr id="27" name="Text 25"/>
          <p:cNvSpPr/>
          <p:nvPr/>
        </p:nvSpPr>
        <p:spPr>
          <a:xfrm>
            <a:off x="7562088" y="3209544"/>
            <a:ext cx="1673352" cy="292608"/>
          </a:xfrm>
          <a:prstGeom prst="rect">
            <a:avLst/>
          </a:prstGeom>
          <a:noFill/>
          <a:ln/>
        </p:spPr>
        <p:txBody>
          <a:bodyPr wrap="square" lIns="0" tIns="0" rIns="0" bIns="0" rtlCol="0" anchor="ctr">
            <a:normAutofit/>
          </a:bodyPr>
          <a:lstStyle/>
          <a:p>
            <a:pPr algn="l" indent="0" marL="0">
              <a:buNone/>
            </a:pPr>
            <a:r>
              <a:rPr lang="en-US" sz="1550" b="1" dirty="0">
                <a:solidFill>
                  <a:srgbClr val="191919"/>
                </a:solidFill>
                <a:latin typeface="Aptos" pitchFamily="34" charset="0"/>
                <a:ea typeface="Aptos" pitchFamily="34" charset="-122"/>
                <a:cs typeface="Aptos" pitchFamily="34" charset="-120"/>
              </a:rPr>
              <a:t>Inject changes</a:t>
            </a:r>
            <a:endParaRPr lang="en-US" sz="1550" dirty="0"/>
          </a:p>
        </p:txBody>
      </p:sp>
      <p:sp>
        <p:nvSpPr>
          <p:cNvPr id="28" name="Text 26"/>
          <p:cNvSpPr/>
          <p:nvPr/>
        </p:nvSpPr>
        <p:spPr>
          <a:xfrm>
            <a:off x="7562088" y="3648456"/>
            <a:ext cx="1618488" cy="685800"/>
          </a:xfrm>
          <a:prstGeom prst="rect">
            <a:avLst/>
          </a:prstGeom>
          <a:noFill/>
          <a:ln/>
        </p:spPr>
        <p:txBody>
          <a:bodyPr wrap="square" lIns="0" tIns="0" rIns="0" bIns="0" rtlCol="0" anchor="t">
            <a:normAutofit/>
          </a:bodyPr>
          <a:lstStyle/>
          <a:p>
            <a:pPr algn="l" indent="0" marL="0">
              <a:buNone/>
            </a:pPr>
            <a:r>
              <a:rPr lang="en-US" sz="1260" dirty="0">
                <a:solidFill>
                  <a:srgbClr val="585858"/>
                </a:solidFill>
                <a:latin typeface="Aptos" pitchFamily="34" charset="0"/>
                <a:ea typeface="Aptos" pitchFamily="34" charset="-122"/>
                <a:cs typeface="Aptos" pitchFamily="34" charset="-120"/>
              </a:rPr>
              <a:t>Commercial events, then feed defects</a:t>
            </a:r>
            <a:endParaRPr lang="en-US" sz="1260" dirty="0"/>
          </a:p>
        </p:txBody>
      </p:sp>
      <p:sp>
        <p:nvSpPr>
          <p:cNvPr id="29" name="Text 27"/>
          <p:cNvSpPr/>
          <p:nvPr/>
        </p:nvSpPr>
        <p:spPr>
          <a:xfrm>
            <a:off x="9390888" y="3218688"/>
            <a:ext cx="292608" cy="320040"/>
          </a:xfrm>
          <a:prstGeom prst="rect">
            <a:avLst/>
          </a:prstGeom>
          <a:noFill/>
          <a:ln/>
        </p:spPr>
        <p:txBody>
          <a:bodyPr wrap="square" lIns="0" tIns="0" rIns="0" bIns="0" rtlCol="0" anchor="ctr">
            <a:normAutofit/>
          </a:bodyPr>
          <a:lstStyle/>
          <a:p>
            <a:pPr algn="ctr" indent="0" marL="0">
              <a:buNone/>
            </a:pPr>
            <a:r>
              <a:rPr lang="en-US" sz="2100" dirty="0">
                <a:solidFill>
                  <a:srgbClr val="737373"/>
                </a:solidFill>
                <a:latin typeface="Aptos" pitchFamily="34" charset="0"/>
                <a:ea typeface="Aptos" pitchFamily="34" charset="-122"/>
                <a:cs typeface="Aptos" pitchFamily="34" charset="-120"/>
              </a:rPr>
              <a:t>→</a:t>
            </a:r>
            <a:endParaRPr lang="en-US" sz="2100" dirty="0"/>
          </a:p>
        </p:txBody>
      </p:sp>
      <p:sp>
        <p:nvSpPr>
          <p:cNvPr id="30" name="Shape 28"/>
          <p:cNvSpPr/>
          <p:nvPr/>
        </p:nvSpPr>
        <p:spPr>
          <a:xfrm>
            <a:off x="9692640" y="2523744"/>
            <a:ext cx="1947672" cy="2011680"/>
          </a:xfrm>
          <a:prstGeom prst="rect">
            <a:avLst>
              <a:gd name="adj" fmla="val 2817"/>
            </a:avLst>
          </a:prstGeom>
          <a:solidFill>
            <a:srgbClr val="FFFFFF"/>
          </a:solidFill>
          <a:ln w="10795">
            <a:solidFill>
              <a:srgbClr val="D8D8D5"/>
            </a:solidFill>
            <a:prstDash val="solid"/>
          </a:ln>
        </p:spPr>
      </p:sp>
      <p:sp>
        <p:nvSpPr>
          <p:cNvPr id="31" name="Text 29"/>
          <p:cNvSpPr/>
          <p:nvPr/>
        </p:nvSpPr>
        <p:spPr>
          <a:xfrm>
            <a:off x="9848088" y="2706624"/>
            <a:ext cx="530352" cy="347472"/>
          </a:xfrm>
          <a:prstGeom prst="rect">
            <a:avLst/>
          </a:prstGeom>
          <a:noFill/>
          <a:ln/>
        </p:spPr>
        <p:txBody>
          <a:bodyPr wrap="square" lIns="0" tIns="0" rIns="0" bIns="0" rtlCol="0" anchor="ctr">
            <a:normAutofit/>
          </a:bodyPr>
          <a:lstStyle/>
          <a:p>
            <a:pPr algn="l" indent="0" marL="0">
              <a:buNone/>
            </a:pPr>
            <a:r>
              <a:rPr lang="en-US" sz="2200" b="1" dirty="0">
                <a:solidFill>
                  <a:srgbClr val="191919"/>
                </a:solidFill>
                <a:latin typeface="Aptos" pitchFamily="34" charset="0"/>
                <a:ea typeface="Aptos" pitchFamily="34" charset="-122"/>
                <a:cs typeface="Aptos" pitchFamily="34" charset="-120"/>
              </a:rPr>
              <a:t>05</a:t>
            </a:r>
            <a:endParaRPr lang="en-US" sz="2200" dirty="0"/>
          </a:p>
        </p:txBody>
      </p:sp>
      <p:sp>
        <p:nvSpPr>
          <p:cNvPr id="32" name="Text 30"/>
          <p:cNvSpPr/>
          <p:nvPr/>
        </p:nvSpPr>
        <p:spPr>
          <a:xfrm>
            <a:off x="9848088" y="3209544"/>
            <a:ext cx="1673352" cy="292608"/>
          </a:xfrm>
          <a:prstGeom prst="rect">
            <a:avLst/>
          </a:prstGeom>
          <a:noFill/>
          <a:ln/>
        </p:spPr>
        <p:txBody>
          <a:bodyPr wrap="square" lIns="0" tIns="0" rIns="0" bIns="0" rtlCol="0" anchor="ctr">
            <a:normAutofit/>
          </a:bodyPr>
          <a:lstStyle/>
          <a:p>
            <a:pPr algn="l" indent="0" marL="0">
              <a:buNone/>
            </a:pPr>
            <a:r>
              <a:rPr lang="en-US" sz="1550" b="1" dirty="0">
                <a:solidFill>
                  <a:srgbClr val="191919"/>
                </a:solidFill>
                <a:latin typeface="Aptos" pitchFamily="34" charset="0"/>
                <a:ea typeface="Aptos" pitchFamily="34" charset="-122"/>
                <a:cs typeface="Aptos" pitchFamily="34" charset="-120"/>
              </a:rPr>
              <a:t>Export + score</a:t>
            </a:r>
            <a:endParaRPr lang="en-US" sz="1550" dirty="0"/>
          </a:p>
        </p:txBody>
      </p:sp>
      <p:sp>
        <p:nvSpPr>
          <p:cNvPr id="33" name="Text 31"/>
          <p:cNvSpPr/>
          <p:nvPr/>
        </p:nvSpPr>
        <p:spPr>
          <a:xfrm>
            <a:off x="9848088" y="3648456"/>
            <a:ext cx="1618488" cy="685800"/>
          </a:xfrm>
          <a:prstGeom prst="rect">
            <a:avLst/>
          </a:prstGeom>
          <a:noFill/>
          <a:ln/>
        </p:spPr>
        <p:txBody>
          <a:bodyPr wrap="square" lIns="0" tIns="0" rIns="0" bIns="0" rtlCol="0" anchor="t">
            <a:normAutofit/>
          </a:bodyPr>
          <a:lstStyle/>
          <a:p>
            <a:pPr algn="l" indent="0" marL="0">
              <a:buNone/>
            </a:pPr>
            <a:r>
              <a:rPr lang="en-US" sz="1260" dirty="0">
                <a:solidFill>
                  <a:srgbClr val="585858"/>
                </a:solidFill>
                <a:latin typeface="Aptos" pitchFamily="34" charset="0"/>
                <a:ea typeface="Aptos" pitchFamily="34" charset="-122"/>
                <a:cs typeface="Aptos" pitchFamily="34" charset="-120"/>
              </a:rPr>
              <a:t>Linked tables and private answer key</a:t>
            </a:r>
            <a:endParaRPr lang="en-US" sz="1260" dirty="0"/>
          </a:p>
        </p:txBody>
      </p:sp>
      <p:sp>
        <p:nvSpPr>
          <p:cNvPr id="34" name="Shape 32"/>
          <p:cNvSpPr/>
          <p:nvPr/>
        </p:nvSpPr>
        <p:spPr>
          <a:xfrm>
            <a:off x="594360" y="4983480"/>
            <a:ext cx="10981944" cy="0"/>
          </a:xfrm>
          <a:prstGeom prst="line">
            <a:avLst/>
          </a:prstGeom>
          <a:noFill/>
          <a:ln w="12700">
            <a:solidFill>
              <a:srgbClr val="D8D8D5"/>
            </a:solidFill>
            <a:prstDash val="solid"/>
          </a:ln>
        </p:spPr>
      </p:sp>
      <p:sp>
        <p:nvSpPr>
          <p:cNvPr id="35" name="Text 33"/>
          <p:cNvSpPr/>
          <p:nvPr/>
        </p:nvSpPr>
        <p:spPr>
          <a:xfrm>
            <a:off x="630936" y="5239512"/>
            <a:ext cx="1920240" cy="201168"/>
          </a:xfrm>
          <a:prstGeom prst="rect">
            <a:avLst/>
          </a:prstGeom>
          <a:noFill/>
          <a:ln/>
        </p:spPr>
        <p:txBody>
          <a:bodyPr wrap="square" lIns="0" tIns="0" rIns="0" bIns="0" rtlCol="0" anchor="ctr">
            <a:normAutofit/>
          </a:bodyPr>
          <a:lstStyle/>
          <a:p>
            <a:pPr algn="l" indent="0" marL="0">
              <a:buNone/>
            </a:pPr>
            <a:r>
              <a:rPr lang="en-US" sz="1140" b="1" spc="100" kern="0" dirty="0">
                <a:solidFill>
                  <a:srgbClr val="585858"/>
                </a:solidFill>
                <a:latin typeface="Aptos" pitchFamily="34" charset="0"/>
                <a:ea typeface="Aptos" pitchFamily="34" charset="-122"/>
                <a:cs typeface="Aptos" pitchFamily="34" charset="-120"/>
              </a:rPr>
              <a:t>KEY MECHANISM</a:t>
            </a:r>
            <a:endParaRPr lang="en-US" sz="1140" dirty="0"/>
          </a:p>
        </p:txBody>
      </p:sp>
      <p:sp>
        <p:nvSpPr>
          <p:cNvPr id="36" name="Text 34"/>
          <p:cNvSpPr/>
          <p:nvPr/>
        </p:nvSpPr>
        <p:spPr>
          <a:xfrm>
            <a:off x="640080" y="5550408"/>
            <a:ext cx="10607040" cy="384048"/>
          </a:xfrm>
          <a:prstGeom prst="rect">
            <a:avLst/>
          </a:prstGeom>
          <a:noFill/>
          <a:ln/>
        </p:spPr>
        <p:txBody>
          <a:bodyPr wrap="square" lIns="0" tIns="0" rIns="0" bIns="0" rtlCol="0" anchor="ctr">
            <a:normAutofit/>
          </a:bodyPr>
          <a:lstStyle/>
          <a:p>
            <a:pPr algn="l" indent="0" marL="0">
              <a:buNone/>
            </a:pPr>
            <a:r>
              <a:rPr lang="en-US" sz="1860" b="1" dirty="0">
                <a:solidFill>
                  <a:srgbClr val="343434"/>
                </a:solidFill>
                <a:latin typeface="Aptos" pitchFamily="34" charset="0"/>
                <a:ea typeface="Aptos" pitchFamily="34" charset="-122"/>
                <a:cs typeface="Aptos" pitchFamily="34" charset="-120"/>
              </a:rPr>
              <a:t>Expected TRx = market structure × trend × seasonality × event effects</a:t>
            </a:r>
            <a:endParaRPr lang="en-US" sz="1860" dirty="0"/>
          </a:p>
        </p:txBody>
      </p:sp>
      <p:sp>
        <p:nvSpPr>
          <p:cNvPr id="37" name="Text 35"/>
          <p:cNvSpPr/>
          <p:nvPr/>
        </p:nvSpPr>
        <p:spPr>
          <a:xfrm>
            <a:off x="640080" y="6080760"/>
            <a:ext cx="10789920" cy="219456"/>
          </a:xfrm>
          <a:prstGeom prst="rect">
            <a:avLst/>
          </a:prstGeom>
          <a:noFill/>
          <a:ln/>
        </p:spPr>
        <p:txBody>
          <a:bodyPr wrap="square" lIns="0" tIns="0" rIns="0" bIns="0" rtlCol="0" anchor="ctr">
            <a:normAutofit/>
          </a:bodyPr>
          <a:lstStyle/>
          <a:p>
            <a:pPr algn="l" indent="0" marL="0">
              <a:buNone/>
            </a:pPr>
            <a:r>
              <a:rPr lang="en-US" sz="1180" dirty="0">
                <a:solidFill>
                  <a:srgbClr val="585858"/>
                </a:solidFill>
                <a:latin typeface="Aptos" pitchFamily="34" charset="0"/>
                <a:ea typeface="Aptos" pitchFamily="34" charset="-122"/>
                <a:cs typeface="Aptos" pitchFamily="34" charset="-120"/>
              </a:rPr>
              <a:t>Random seed 7  •  104 Monday-start weeks  •  NBRx is a synthetic proxy, not a claims-derived patient lookback.</a:t>
            </a:r>
            <a:endParaRPr lang="en-US" sz="11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310896"/>
            <a:ext cx="7315200" cy="201168"/>
          </a:xfrm>
          <a:prstGeom prst="rect">
            <a:avLst/>
          </a:prstGeom>
          <a:noFill/>
          <a:ln/>
        </p:spPr>
        <p:txBody>
          <a:bodyPr wrap="square" lIns="0" tIns="0" rIns="0" bIns="0" rtlCol="0" anchor="ctr">
            <a:normAutofit/>
          </a:bodyPr>
          <a:lstStyle/>
          <a:p>
            <a:pPr algn="l" indent="0" marL="0">
              <a:buNone/>
            </a:pPr>
            <a:r>
              <a:rPr lang="en-US" sz="1000" b="1" spc="160" kern="0" dirty="0">
                <a:solidFill>
                  <a:srgbClr val="737373"/>
                </a:solidFill>
                <a:latin typeface="Aptos" pitchFamily="34" charset="0"/>
                <a:ea typeface="Aptos" pitchFamily="34" charset="-122"/>
                <a:cs typeface="Aptos" pitchFamily="34" charset="-120"/>
              </a:rPr>
              <a:t>PHARMAGENTICS  /  RESEARCH UPDATE</a:t>
            </a:r>
            <a:endParaRPr lang="en-US" sz="1000" dirty="0"/>
          </a:p>
        </p:txBody>
      </p:sp>
      <p:sp>
        <p:nvSpPr>
          <p:cNvPr id="3" name="Text 1"/>
          <p:cNvSpPr/>
          <p:nvPr/>
        </p:nvSpPr>
        <p:spPr>
          <a:xfrm>
            <a:off x="10744200" y="310896"/>
            <a:ext cx="896112" cy="201168"/>
          </a:xfrm>
          <a:prstGeom prst="rect">
            <a:avLst/>
          </a:prstGeom>
          <a:noFill/>
          <a:ln/>
        </p:spPr>
        <p:txBody>
          <a:bodyPr wrap="square" lIns="0" tIns="0" rIns="0" bIns="0" rtlCol="0" anchor="ctr">
            <a:normAutofit/>
          </a:bodyPr>
          <a:lstStyle/>
          <a:p>
            <a:pPr algn="r" indent="0" marL="0">
              <a:buNone/>
            </a:pPr>
            <a:r>
              <a:rPr lang="en-US" sz="1000" dirty="0">
                <a:solidFill>
                  <a:srgbClr val="737373"/>
                </a:solidFill>
                <a:latin typeface="Aptos" pitchFamily="34" charset="0"/>
                <a:ea typeface="Aptos" pitchFamily="34" charset="-122"/>
                <a:cs typeface="Aptos" pitchFamily="34" charset="-120"/>
              </a:rPr>
              <a:t>04 / 06</a:t>
            </a:r>
            <a:endParaRPr lang="en-US" sz="1000" dirty="0"/>
          </a:p>
        </p:txBody>
      </p:sp>
      <p:sp>
        <p:nvSpPr>
          <p:cNvPr id="4" name="Shape 2"/>
          <p:cNvSpPr/>
          <p:nvPr/>
        </p:nvSpPr>
        <p:spPr>
          <a:xfrm>
            <a:off x="548640" y="630936"/>
            <a:ext cx="11082528" cy="0"/>
          </a:xfrm>
          <a:prstGeom prst="line">
            <a:avLst/>
          </a:prstGeom>
          <a:noFill/>
          <a:ln w="12700">
            <a:solidFill>
              <a:srgbClr val="D8D8D5"/>
            </a:solidFill>
            <a:prstDash val="solid"/>
          </a:ln>
        </p:spPr>
      </p:sp>
      <p:sp>
        <p:nvSpPr>
          <p:cNvPr id="5" name="Text 3"/>
          <p:cNvSpPr/>
          <p:nvPr/>
        </p:nvSpPr>
        <p:spPr>
          <a:xfrm>
            <a:off x="548640" y="832104"/>
            <a:ext cx="8229600" cy="182880"/>
          </a:xfrm>
          <a:prstGeom prst="rect">
            <a:avLst/>
          </a:prstGeom>
          <a:noFill/>
          <a:ln/>
        </p:spPr>
        <p:txBody>
          <a:bodyPr wrap="square" lIns="0" tIns="0" rIns="0" bIns="0" rtlCol="0" anchor="ctr">
            <a:normAutofit/>
          </a:bodyPr>
          <a:lstStyle/>
          <a:p>
            <a:pPr algn="l" indent="0" marL="0">
              <a:buNone/>
            </a:pPr>
            <a:r>
              <a:rPr lang="en-US" sz="1050" b="1" spc="140" kern="0" dirty="0">
                <a:solidFill>
                  <a:srgbClr val="585858"/>
                </a:solidFill>
                <a:latin typeface="Aptos" pitchFamily="34" charset="0"/>
                <a:ea typeface="Aptos" pitchFamily="34" charset="-122"/>
                <a:cs typeface="Aptos" pitchFamily="34" charset="-120"/>
              </a:rPr>
              <a:t>EVALUATION DESIGN</a:t>
            </a:r>
            <a:endParaRPr lang="en-US" sz="1050" dirty="0"/>
          </a:p>
        </p:txBody>
      </p:sp>
      <p:sp>
        <p:nvSpPr>
          <p:cNvPr id="6" name="Text 4"/>
          <p:cNvSpPr/>
          <p:nvPr/>
        </p:nvSpPr>
        <p:spPr>
          <a:xfrm>
            <a:off x="548640" y="1124712"/>
            <a:ext cx="11064240" cy="521208"/>
          </a:xfrm>
          <a:prstGeom prst="rect">
            <a:avLst/>
          </a:prstGeom>
          <a:noFill/>
          <a:ln/>
        </p:spPr>
        <p:txBody>
          <a:bodyPr wrap="square" lIns="0" tIns="0" rIns="0" bIns="0" rtlCol="0" anchor="ctr">
            <a:normAutofit/>
          </a:bodyPr>
          <a:lstStyle/>
          <a:p>
            <a:pPr algn="l" indent="0" marL="0">
              <a:buNone/>
            </a:pPr>
            <a:r>
              <a:rPr lang="en-US" sz="3050" b="1" dirty="0">
                <a:solidFill>
                  <a:srgbClr val="191919"/>
                </a:solidFill>
                <a:latin typeface="Aptos Display" pitchFamily="34" charset="0"/>
                <a:ea typeface="Aptos Display" pitchFamily="34" charset="-122"/>
                <a:cs typeface="Aptos Display" pitchFamily="34" charset="-120"/>
              </a:rPr>
              <a:t>Controlled events and data-quality failures</a:t>
            </a:r>
            <a:endParaRPr lang="en-US" sz="3050" dirty="0"/>
          </a:p>
        </p:txBody>
      </p:sp>
      <p:sp>
        <p:nvSpPr>
          <p:cNvPr id="7" name="Text 5"/>
          <p:cNvSpPr/>
          <p:nvPr/>
        </p:nvSpPr>
        <p:spPr>
          <a:xfrm>
            <a:off x="548640" y="1755648"/>
            <a:ext cx="11018520" cy="411480"/>
          </a:xfrm>
          <a:prstGeom prst="rect">
            <a:avLst/>
          </a:prstGeom>
          <a:noFill/>
          <a:ln/>
        </p:spPr>
        <p:txBody>
          <a:bodyPr wrap="square" lIns="0" tIns="0" rIns="0" bIns="0" rtlCol="0" anchor="ctr">
            <a:normAutofit/>
          </a:bodyPr>
          <a:lstStyle/>
          <a:p>
            <a:pPr algn="l" indent="0" marL="0">
              <a:buNone/>
            </a:pPr>
            <a:r>
              <a:rPr lang="en-US" sz="1400" dirty="0">
                <a:solidFill>
                  <a:srgbClr val="585858"/>
                </a:solidFill>
                <a:latin typeface="Aptos" pitchFamily="34" charset="0"/>
                <a:ea typeface="Aptos" pitchFamily="34" charset="-122"/>
                <a:cs typeface="Aptos" pitchFamily="34" charset="-120"/>
              </a:rPr>
              <a:t>We know which anomalies were planted, but evaluation labels are hidden from the agents.</a:t>
            </a:r>
            <a:endParaRPr lang="en-US" sz="1400" dirty="0"/>
          </a:p>
        </p:txBody>
      </p:sp>
      <p:sp>
        <p:nvSpPr>
          <p:cNvPr id="8" name="Shape 6"/>
          <p:cNvSpPr/>
          <p:nvPr/>
        </p:nvSpPr>
        <p:spPr>
          <a:xfrm>
            <a:off x="548640" y="6483096"/>
            <a:ext cx="11082528" cy="0"/>
          </a:xfrm>
          <a:prstGeom prst="line">
            <a:avLst/>
          </a:prstGeom>
          <a:noFill/>
          <a:ln w="12700">
            <a:solidFill>
              <a:srgbClr val="D8D8D5"/>
            </a:solidFill>
            <a:prstDash val="solid"/>
          </a:ln>
        </p:spPr>
      </p:sp>
      <p:sp>
        <p:nvSpPr>
          <p:cNvPr id="9" name="Text 7"/>
          <p:cNvSpPr/>
          <p:nvPr/>
        </p:nvSpPr>
        <p:spPr>
          <a:xfrm>
            <a:off x="548640" y="6565392"/>
            <a:ext cx="8229600" cy="146304"/>
          </a:xfrm>
          <a:prstGeom prst="rect">
            <a:avLst/>
          </a:prstGeom>
          <a:noFill/>
          <a:ln/>
        </p:spPr>
        <p:txBody>
          <a:bodyPr wrap="square" lIns="0" tIns="0" rIns="0" bIns="0" rtlCol="0" anchor="ctr">
            <a:normAutofit/>
          </a:bodyPr>
          <a:lstStyle/>
          <a:p>
            <a:pPr algn="l" indent="0" marL="0">
              <a:buNone/>
            </a:pPr>
            <a:r>
              <a:rPr lang="en-US" sz="900" dirty="0">
                <a:solidFill>
                  <a:srgbClr val="737373"/>
                </a:solidFill>
                <a:latin typeface="Aptos" pitchFamily="34" charset="0"/>
                <a:ea typeface="Aptos" pitchFamily="34" charset="-122"/>
                <a:cs typeface="Aptos" pitchFamily="34" charset="-120"/>
              </a:rPr>
              <a:t>SYNTHETIC DATA METHODOLOGY  ·  OCT 2026</a:t>
            </a:r>
            <a:endParaRPr lang="en-US" sz="900" dirty="0"/>
          </a:p>
        </p:txBody>
      </p:sp>
      <p:sp>
        <p:nvSpPr>
          <p:cNvPr id="10" name="Text 8"/>
          <p:cNvSpPr/>
          <p:nvPr/>
        </p:nvSpPr>
        <p:spPr>
          <a:xfrm>
            <a:off x="566928" y="2432304"/>
            <a:ext cx="5120640" cy="201168"/>
          </a:xfrm>
          <a:prstGeom prst="rect">
            <a:avLst/>
          </a:prstGeom>
          <a:noFill/>
          <a:ln/>
        </p:spPr>
        <p:txBody>
          <a:bodyPr wrap="square" lIns="0" tIns="0" rIns="0" bIns="0" rtlCol="0" anchor="ctr">
            <a:normAutofit/>
          </a:bodyPr>
          <a:lstStyle/>
          <a:p>
            <a:pPr algn="l" indent="0" marL="0">
              <a:buNone/>
            </a:pPr>
            <a:r>
              <a:rPr lang="en-US" sz="1120" b="1" spc="100" kern="0" dirty="0">
                <a:solidFill>
                  <a:srgbClr val="585858"/>
                </a:solidFill>
                <a:latin typeface="Aptos" pitchFamily="34" charset="0"/>
                <a:ea typeface="Aptos" pitchFamily="34" charset="-122"/>
                <a:cs typeface="Aptos" pitchFamily="34" charset="-120"/>
              </a:rPr>
              <a:t>SIX COMMERCIAL SCENARIOS</a:t>
            </a:r>
            <a:endParaRPr lang="en-US" sz="1120" dirty="0"/>
          </a:p>
        </p:txBody>
      </p:sp>
      <p:sp>
        <p:nvSpPr>
          <p:cNvPr id="11" name="Shape 9"/>
          <p:cNvSpPr/>
          <p:nvPr/>
        </p:nvSpPr>
        <p:spPr>
          <a:xfrm>
            <a:off x="566928" y="3520440"/>
            <a:ext cx="2606040" cy="0"/>
          </a:xfrm>
          <a:prstGeom prst="line">
            <a:avLst/>
          </a:prstGeom>
          <a:noFill/>
          <a:ln w="12700">
            <a:solidFill>
              <a:srgbClr val="D8D8D5"/>
            </a:solidFill>
            <a:prstDash val="solid"/>
          </a:ln>
        </p:spPr>
      </p:sp>
      <p:sp>
        <p:nvSpPr>
          <p:cNvPr id="12" name="Text 10"/>
          <p:cNvSpPr/>
          <p:nvPr/>
        </p:nvSpPr>
        <p:spPr>
          <a:xfrm>
            <a:off x="566928" y="2798064"/>
            <a:ext cx="411480" cy="310896"/>
          </a:xfrm>
          <a:prstGeom prst="rect">
            <a:avLst/>
          </a:prstGeom>
          <a:noFill/>
          <a:ln/>
        </p:spPr>
        <p:txBody>
          <a:bodyPr wrap="square" lIns="0" tIns="0" rIns="0" bIns="0" rtlCol="0" anchor="ctr">
            <a:normAutofit/>
          </a:bodyPr>
          <a:lstStyle/>
          <a:p>
            <a:pPr algn="l" indent="0" marL="0">
              <a:buNone/>
            </a:pPr>
            <a:r>
              <a:rPr lang="en-US" sz="1700" b="1" dirty="0">
                <a:solidFill>
                  <a:srgbClr val="191919"/>
                </a:solidFill>
                <a:latin typeface="Aptos" pitchFamily="34" charset="0"/>
                <a:ea typeface="Aptos" pitchFamily="34" charset="-122"/>
                <a:cs typeface="Aptos" pitchFamily="34" charset="-120"/>
              </a:rPr>
              <a:t>01</a:t>
            </a:r>
            <a:endParaRPr lang="en-US" sz="1700" dirty="0"/>
          </a:p>
        </p:txBody>
      </p:sp>
      <p:sp>
        <p:nvSpPr>
          <p:cNvPr id="13" name="Text 11"/>
          <p:cNvSpPr/>
          <p:nvPr/>
        </p:nvSpPr>
        <p:spPr>
          <a:xfrm>
            <a:off x="1069848" y="2798064"/>
            <a:ext cx="2112264" cy="274320"/>
          </a:xfrm>
          <a:prstGeom prst="rect">
            <a:avLst/>
          </a:prstGeom>
          <a:noFill/>
          <a:ln/>
        </p:spPr>
        <p:txBody>
          <a:bodyPr wrap="square" lIns="0" tIns="0" rIns="0" bIns="0" rtlCol="0" anchor="ctr">
            <a:normAutofit/>
          </a:bodyPr>
          <a:lstStyle/>
          <a:p>
            <a:pPr algn="l" indent="0" marL="0">
              <a:buNone/>
            </a:pPr>
            <a:r>
              <a:rPr lang="en-US" sz="1370" b="1" dirty="0">
                <a:solidFill>
                  <a:srgbClr val="191919"/>
                </a:solidFill>
                <a:latin typeface="Aptos" pitchFamily="34" charset="0"/>
                <a:ea typeface="Aptos" pitchFamily="34" charset="-122"/>
                <a:cs typeface="Aptos" pitchFamily="34" charset="-120"/>
              </a:rPr>
              <a:t>Access restriction</a:t>
            </a:r>
            <a:endParaRPr lang="en-US" sz="1370" dirty="0"/>
          </a:p>
        </p:txBody>
      </p:sp>
      <p:sp>
        <p:nvSpPr>
          <p:cNvPr id="14" name="Text 12"/>
          <p:cNvSpPr/>
          <p:nvPr/>
        </p:nvSpPr>
        <p:spPr>
          <a:xfrm>
            <a:off x="1069848" y="3145536"/>
            <a:ext cx="2121408" cy="219456"/>
          </a:xfrm>
          <a:prstGeom prst="rect">
            <a:avLst/>
          </a:prstGeom>
          <a:noFill/>
          <a:ln/>
        </p:spPr>
        <p:txBody>
          <a:bodyPr wrap="square" lIns="0" tIns="0" rIns="0" bIns="0" rtlCol="0" anchor="ctr">
            <a:normAutofit/>
          </a:bodyPr>
          <a:lstStyle/>
          <a:p>
            <a:pPr algn="l" indent="0" marL="0">
              <a:buNone/>
            </a:pPr>
            <a:r>
              <a:rPr lang="en-US" sz="1170" dirty="0">
                <a:solidFill>
                  <a:srgbClr val="737373"/>
                </a:solidFill>
                <a:latin typeface="Aptos" pitchFamily="34" charset="0"/>
                <a:ea typeface="Aptos" pitchFamily="34" charset="-122"/>
                <a:cs typeface="Aptos" pitchFamily="34" charset="-120"/>
              </a:rPr>
              <a:t>Mid-Atlantic</a:t>
            </a:r>
            <a:endParaRPr lang="en-US" sz="1170" dirty="0"/>
          </a:p>
        </p:txBody>
      </p:sp>
      <p:sp>
        <p:nvSpPr>
          <p:cNvPr id="15" name="Shape 13"/>
          <p:cNvSpPr/>
          <p:nvPr/>
        </p:nvSpPr>
        <p:spPr>
          <a:xfrm>
            <a:off x="566928" y="4471416"/>
            <a:ext cx="2606040" cy="0"/>
          </a:xfrm>
          <a:prstGeom prst="line">
            <a:avLst/>
          </a:prstGeom>
          <a:noFill/>
          <a:ln w="12700">
            <a:solidFill>
              <a:srgbClr val="D8D8D5"/>
            </a:solidFill>
            <a:prstDash val="solid"/>
          </a:ln>
        </p:spPr>
      </p:sp>
      <p:sp>
        <p:nvSpPr>
          <p:cNvPr id="16" name="Text 14"/>
          <p:cNvSpPr/>
          <p:nvPr/>
        </p:nvSpPr>
        <p:spPr>
          <a:xfrm>
            <a:off x="566928" y="3749040"/>
            <a:ext cx="411480" cy="310896"/>
          </a:xfrm>
          <a:prstGeom prst="rect">
            <a:avLst/>
          </a:prstGeom>
          <a:noFill/>
          <a:ln/>
        </p:spPr>
        <p:txBody>
          <a:bodyPr wrap="square" lIns="0" tIns="0" rIns="0" bIns="0" rtlCol="0" anchor="ctr">
            <a:normAutofit/>
          </a:bodyPr>
          <a:lstStyle/>
          <a:p>
            <a:pPr algn="l" indent="0" marL="0">
              <a:buNone/>
            </a:pPr>
            <a:r>
              <a:rPr lang="en-US" sz="1700" b="1" dirty="0">
                <a:solidFill>
                  <a:srgbClr val="191919"/>
                </a:solidFill>
                <a:latin typeface="Aptos" pitchFamily="34" charset="0"/>
                <a:ea typeface="Aptos" pitchFamily="34" charset="-122"/>
                <a:cs typeface="Aptos" pitchFamily="34" charset="-120"/>
              </a:rPr>
              <a:t>02</a:t>
            </a:r>
            <a:endParaRPr lang="en-US" sz="1700" dirty="0"/>
          </a:p>
        </p:txBody>
      </p:sp>
      <p:sp>
        <p:nvSpPr>
          <p:cNvPr id="17" name="Text 15"/>
          <p:cNvSpPr/>
          <p:nvPr/>
        </p:nvSpPr>
        <p:spPr>
          <a:xfrm>
            <a:off x="1069848" y="3749040"/>
            <a:ext cx="2112264" cy="274320"/>
          </a:xfrm>
          <a:prstGeom prst="rect">
            <a:avLst/>
          </a:prstGeom>
          <a:noFill/>
          <a:ln/>
        </p:spPr>
        <p:txBody>
          <a:bodyPr wrap="square" lIns="0" tIns="0" rIns="0" bIns="0" rtlCol="0" anchor="ctr">
            <a:normAutofit/>
          </a:bodyPr>
          <a:lstStyle/>
          <a:p>
            <a:pPr algn="l" indent="0" marL="0">
              <a:buNone/>
            </a:pPr>
            <a:r>
              <a:rPr lang="en-US" sz="1370" b="1" dirty="0">
                <a:solidFill>
                  <a:srgbClr val="191919"/>
                </a:solidFill>
                <a:latin typeface="Aptos" pitchFamily="34" charset="0"/>
                <a:ea typeface="Aptos" pitchFamily="34" charset="-122"/>
                <a:cs typeface="Aptos" pitchFamily="34" charset="-120"/>
              </a:rPr>
              <a:t>Competitor launch</a:t>
            </a:r>
            <a:endParaRPr lang="en-US" sz="1370" dirty="0"/>
          </a:p>
        </p:txBody>
      </p:sp>
      <p:sp>
        <p:nvSpPr>
          <p:cNvPr id="18" name="Text 16"/>
          <p:cNvSpPr/>
          <p:nvPr/>
        </p:nvSpPr>
        <p:spPr>
          <a:xfrm>
            <a:off x="1069848" y="4096512"/>
            <a:ext cx="2121408" cy="219456"/>
          </a:xfrm>
          <a:prstGeom prst="rect">
            <a:avLst/>
          </a:prstGeom>
          <a:noFill/>
          <a:ln/>
        </p:spPr>
        <p:txBody>
          <a:bodyPr wrap="square" lIns="0" tIns="0" rIns="0" bIns="0" rtlCol="0" anchor="ctr">
            <a:normAutofit/>
          </a:bodyPr>
          <a:lstStyle/>
          <a:p>
            <a:pPr algn="l" indent="0" marL="0">
              <a:buNone/>
            </a:pPr>
            <a:r>
              <a:rPr lang="en-US" sz="1170" dirty="0">
                <a:solidFill>
                  <a:srgbClr val="737373"/>
                </a:solidFill>
                <a:latin typeface="Aptos" pitchFamily="34" charset="0"/>
                <a:ea typeface="Aptos" pitchFamily="34" charset="-122"/>
                <a:cs typeface="Aptos" pitchFamily="34" charset="-120"/>
              </a:rPr>
              <a:t>National</a:t>
            </a:r>
            <a:endParaRPr lang="en-US" sz="1170" dirty="0"/>
          </a:p>
        </p:txBody>
      </p:sp>
      <p:sp>
        <p:nvSpPr>
          <p:cNvPr id="19" name="Shape 17"/>
          <p:cNvSpPr/>
          <p:nvPr/>
        </p:nvSpPr>
        <p:spPr>
          <a:xfrm>
            <a:off x="566928" y="5422392"/>
            <a:ext cx="2606040" cy="0"/>
          </a:xfrm>
          <a:prstGeom prst="line">
            <a:avLst/>
          </a:prstGeom>
          <a:noFill/>
          <a:ln w="12700">
            <a:solidFill>
              <a:srgbClr val="D8D8D5"/>
            </a:solidFill>
            <a:prstDash val="solid"/>
          </a:ln>
        </p:spPr>
      </p:sp>
      <p:sp>
        <p:nvSpPr>
          <p:cNvPr id="20" name="Text 18"/>
          <p:cNvSpPr/>
          <p:nvPr/>
        </p:nvSpPr>
        <p:spPr>
          <a:xfrm>
            <a:off x="566928" y="4700016"/>
            <a:ext cx="411480" cy="310896"/>
          </a:xfrm>
          <a:prstGeom prst="rect">
            <a:avLst/>
          </a:prstGeom>
          <a:noFill/>
          <a:ln/>
        </p:spPr>
        <p:txBody>
          <a:bodyPr wrap="square" lIns="0" tIns="0" rIns="0" bIns="0" rtlCol="0" anchor="ctr">
            <a:normAutofit/>
          </a:bodyPr>
          <a:lstStyle/>
          <a:p>
            <a:pPr algn="l" indent="0" marL="0">
              <a:buNone/>
            </a:pPr>
            <a:r>
              <a:rPr lang="en-US" sz="1700" b="1" dirty="0">
                <a:solidFill>
                  <a:srgbClr val="191919"/>
                </a:solidFill>
                <a:latin typeface="Aptos" pitchFamily="34" charset="0"/>
                <a:ea typeface="Aptos" pitchFamily="34" charset="-122"/>
                <a:cs typeface="Aptos" pitchFamily="34" charset="-120"/>
              </a:rPr>
              <a:t>03</a:t>
            </a:r>
            <a:endParaRPr lang="en-US" sz="1700" dirty="0"/>
          </a:p>
        </p:txBody>
      </p:sp>
      <p:sp>
        <p:nvSpPr>
          <p:cNvPr id="21" name="Text 19"/>
          <p:cNvSpPr/>
          <p:nvPr/>
        </p:nvSpPr>
        <p:spPr>
          <a:xfrm>
            <a:off x="1069848" y="4700016"/>
            <a:ext cx="2112264" cy="274320"/>
          </a:xfrm>
          <a:prstGeom prst="rect">
            <a:avLst/>
          </a:prstGeom>
          <a:noFill/>
          <a:ln/>
        </p:spPr>
        <p:txBody>
          <a:bodyPr wrap="square" lIns="0" tIns="0" rIns="0" bIns="0" rtlCol="0" anchor="ctr">
            <a:normAutofit/>
          </a:bodyPr>
          <a:lstStyle/>
          <a:p>
            <a:pPr algn="l" indent="0" marL="0">
              <a:buNone/>
            </a:pPr>
            <a:r>
              <a:rPr lang="en-US" sz="1370" b="1" dirty="0">
                <a:solidFill>
                  <a:srgbClr val="191919"/>
                </a:solidFill>
                <a:latin typeface="Aptos" pitchFamily="34" charset="0"/>
                <a:ea typeface="Aptos" pitchFamily="34" charset="-122"/>
                <a:cs typeface="Aptos" pitchFamily="34" charset="-120"/>
              </a:rPr>
              <a:t>Inventory disruption</a:t>
            </a:r>
            <a:endParaRPr lang="en-US" sz="1370" dirty="0"/>
          </a:p>
        </p:txBody>
      </p:sp>
      <p:sp>
        <p:nvSpPr>
          <p:cNvPr id="22" name="Text 20"/>
          <p:cNvSpPr/>
          <p:nvPr/>
        </p:nvSpPr>
        <p:spPr>
          <a:xfrm>
            <a:off x="1069848" y="5047488"/>
            <a:ext cx="2121408" cy="219456"/>
          </a:xfrm>
          <a:prstGeom prst="rect">
            <a:avLst/>
          </a:prstGeom>
          <a:noFill/>
          <a:ln/>
        </p:spPr>
        <p:txBody>
          <a:bodyPr wrap="square" lIns="0" tIns="0" rIns="0" bIns="0" rtlCol="0" anchor="ctr">
            <a:normAutofit/>
          </a:bodyPr>
          <a:lstStyle/>
          <a:p>
            <a:pPr algn="l" indent="0" marL="0">
              <a:buNone/>
            </a:pPr>
            <a:r>
              <a:rPr lang="en-US" sz="1170" dirty="0">
                <a:solidFill>
                  <a:srgbClr val="737373"/>
                </a:solidFill>
                <a:latin typeface="Aptos" pitchFamily="34" charset="0"/>
                <a:ea typeface="Aptos" pitchFamily="34" charset="-122"/>
                <a:cs typeface="Aptos" pitchFamily="34" charset="-120"/>
              </a:rPr>
              <a:t>Pacific</a:t>
            </a:r>
            <a:endParaRPr lang="en-US" sz="1170" dirty="0"/>
          </a:p>
        </p:txBody>
      </p:sp>
      <p:sp>
        <p:nvSpPr>
          <p:cNvPr id="23" name="Shape 21"/>
          <p:cNvSpPr/>
          <p:nvPr/>
        </p:nvSpPr>
        <p:spPr>
          <a:xfrm>
            <a:off x="3474720" y="3520440"/>
            <a:ext cx="2606040" cy="0"/>
          </a:xfrm>
          <a:prstGeom prst="line">
            <a:avLst/>
          </a:prstGeom>
          <a:noFill/>
          <a:ln w="12700">
            <a:solidFill>
              <a:srgbClr val="D8D8D5"/>
            </a:solidFill>
            <a:prstDash val="solid"/>
          </a:ln>
        </p:spPr>
      </p:sp>
      <p:sp>
        <p:nvSpPr>
          <p:cNvPr id="24" name="Text 22"/>
          <p:cNvSpPr/>
          <p:nvPr/>
        </p:nvSpPr>
        <p:spPr>
          <a:xfrm>
            <a:off x="3474720" y="2798064"/>
            <a:ext cx="411480" cy="310896"/>
          </a:xfrm>
          <a:prstGeom prst="rect">
            <a:avLst/>
          </a:prstGeom>
          <a:noFill/>
          <a:ln/>
        </p:spPr>
        <p:txBody>
          <a:bodyPr wrap="square" lIns="0" tIns="0" rIns="0" bIns="0" rtlCol="0" anchor="ctr">
            <a:normAutofit/>
          </a:bodyPr>
          <a:lstStyle/>
          <a:p>
            <a:pPr algn="l" indent="0" marL="0">
              <a:buNone/>
            </a:pPr>
            <a:r>
              <a:rPr lang="en-US" sz="1700" b="1" dirty="0">
                <a:solidFill>
                  <a:srgbClr val="191919"/>
                </a:solidFill>
                <a:latin typeface="Aptos" pitchFamily="34" charset="0"/>
                <a:ea typeface="Aptos" pitchFamily="34" charset="-122"/>
                <a:cs typeface="Aptos" pitchFamily="34" charset="-120"/>
              </a:rPr>
              <a:t>04</a:t>
            </a:r>
            <a:endParaRPr lang="en-US" sz="1700" dirty="0"/>
          </a:p>
        </p:txBody>
      </p:sp>
      <p:sp>
        <p:nvSpPr>
          <p:cNvPr id="25" name="Text 23"/>
          <p:cNvSpPr/>
          <p:nvPr/>
        </p:nvSpPr>
        <p:spPr>
          <a:xfrm>
            <a:off x="3977640" y="2798064"/>
            <a:ext cx="2112264" cy="274320"/>
          </a:xfrm>
          <a:prstGeom prst="rect">
            <a:avLst/>
          </a:prstGeom>
          <a:noFill/>
          <a:ln/>
        </p:spPr>
        <p:txBody>
          <a:bodyPr wrap="square" lIns="0" tIns="0" rIns="0" bIns="0" rtlCol="0" anchor="ctr">
            <a:normAutofit/>
          </a:bodyPr>
          <a:lstStyle/>
          <a:p>
            <a:pPr algn="l" indent="0" marL="0">
              <a:buNone/>
            </a:pPr>
            <a:r>
              <a:rPr lang="en-US" sz="1370" b="1" dirty="0">
                <a:solidFill>
                  <a:srgbClr val="191919"/>
                </a:solidFill>
                <a:latin typeface="Aptos" pitchFamily="34" charset="0"/>
                <a:ea typeface="Aptos" pitchFamily="34" charset="-122"/>
                <a:cs typeface="Aptos" pitchFamily="34" charset="-120"/>
              </a:rPr>
              <a:t>Promotion pullback</a:t>
            </a:r>
            <a:endParaRPr lang="en-US" sz="1370" dirty="0"/>
          </a:p>
        </p:txBody>
      </p:sp>
      <p:sp>
        <p:nvSpPr>
          <p:cNvPr id="26" name="Text 24"/>
          <p:cNvSpPr/>
          <p:nvPr/>
        </p:nvSpPr>
        <p:spPr>
          <a:xfrm>
            <a:off x="3977640" y="3145536"/>
            <a:ext cx="2121408" cy="219456"/>
          </a:xfrm>
          <a:prstGeom prst="rect">
            <a:avLst/>
          </a:prstGeom>
          <a:noFill/>
          <a:ln/>
        </p:spPr>
        <p:txBody>
          <a:bodyPr wrap="square" lIns="0" tIns="0" rIns="0" bIns="0" rtlCol="0" anchor="ctr">
            <a:normAutofit/>
          </a:bodyPr>
          <a:lstStyle/>
          <a:p>
            <a:pPr algn="l" indent="0" marL="0">
              <a:buNone/>
            </a:pPr>
            <a:r>
              <a:rPr lang="en-US" sz="1170" dirty="0">
                <a:solidFill>
                  <a:srgbClr val="737373"/>
                </a:solidFill>
                <a:latin typeface="Aptos" pitchFamily="34" charset="0"/>
                <a:ea typeface="Aptos" pitchFamily="34" charset="-122"/>
                <a:cs typeface="Aptos" pitchFamily="34" charset="-120"/>
              </a:rPr>
              <a:t>Great Lakes</a:t>
            </a:r>
            <a:endParaRPr lang="en-US" sz="1170" dirty="0"/>
          </a:p>
        </p:txBody>
      </p:sp>
      <p:sp>
        <p:nvSpPr>
          <p:cNvPr id="27" name="Shape 25"/>
          <p:cNvSpPr/>
          <p:nvPr/>
        </p:nvSpPr>
        <p:spPr>
          <a:xfrm>
            <a:off x="3474720" y="4471416"/>
            <a:ext cx="2606040" cy="0"/>
          </a:xfrm>
          <a:prstGeom prst="line">
            <a:avLst/>
          </a:prstGeom>
          <a:noFill/>
          <a:ln w="12700">
            <a:solidFill>
              <a:srgbClr val="D8D8D5"/>
            </a:solidFill>
            <a:prstDash val="solid"/>
          </a:ln>
        </p:spPr>
      </p:sp>
      <p:sp>
        <p:nvSpPr>
          <p:cNvPr id="28" name="Text 26"/>
          <p:cNvSpPr/>
          <p:nvPr/>
        </p:nvSpPr>
        <p:spPr>
          <a:xfrm>
            <a:off x="3474720" y="3749040"/>
            <a:ext cx="411480" cy="310896"/>
          </a:xfrm>
          <a:prstGeom prst="rect">
            <a:avLst/>
          </a:prstGeom>
          <a:noFill/>
          <a:ln/>
        </p:spPr>
        <p:txBody>
          <a:bodyPr wrap="square" lIns="0" tIns="0" rIns="0" bIns="0" rtlCol="0" anchor="ctr">
            <a:normAutofit/>
          </a:bodyPr>
          <a:lstStyle/>
          <a:p>
            <a:pPr algn="l" indent="0" marL="0">
              <a:buNone/>
            </a:pPr>
            <a:r>
              <a:rPr lang="en-US" sz="1700" b="1" dirty="0">
                <a:solidFill>
                  <a:srgbClr val="191919"/>
                </a:solidFill>
                <a:latin typeface="Aptos" pitchFamily="34" charset="0"/>
                <a:ea typeface="Aptos" pitchFamily="34" charset="-122"/>
                <a:cs typeface="Aptos" pitchFamily="34" charset="-120"/>
              </a:rPr>
              <a:t>05</a:t>
            </a:r>
            <a:endParaRPr lang="en-US" sz="1700" dirty="0"/>
          </a:p>
        </p:txBody>
      </p:sp>
      <p:sp>
        <p:nvSpPr>
          <p:cNvPr id="29" name="Text 27"/>
          <p:cNvSpPr/>
          <p:nvPr/>
        </p:nvSpPr>
        <p:spPr>
          <a:xfrm>
            <a:off x="3977640" y="3749040"/>
            <a:ext cx="2112264" cy="274320"/>
          </a:xfrm>
          <a:prstGeom prst="rect">
            <a:avLst/>
          </a:prstGeom>
          <a:noFill/>
          <a:ln/>
        </p:spPr>
        <p:txBody>
          <a:bodyPr wrap="square" lIns="0" tIns="0" rIns="0" bIns="0" rtlCol="0" anchor="ctr">
            <a:normAutofit/>
          </a:bodyPr>
          <a:lstStyle/>
          <a:p>
            <a:pPr algn="l" indent="0" marL="0">
              <a:buNone/>
            </a:pPr>
            <a:r>
              <a:rPr lang="en-US" sz="1370" b="1" dirty="0">
                <a:solidFill>
                  <a:srgbClr val="191919"/>
                </a:solidFill>
                <a:latin typeface="Aptos" pitchFamily="34" charset="0"/>
                <a:ea typeface="Aptos" pitchFamily="34" charset="-122"/>
                <a:cs typeface="Aptos" pitchFamily="34" charset="-120"/>
              </a:rPr>
              <a:t>Promotion pullback</a:t>
            </a:r>
            <a:endParaRPr lang="en-US" sz="1370" dirty="0"/>
          </a:p>
        </p:txBody>
      </p:sp>
      <p:sp>
        <p:nvSpPr>
          <p:cNvPr id="30" name="Text 28"/>
          <p:cNvSpPr/>
          <p:nvPr/>
        </p:nvSpPr>
        <p:spPr>
          <a:xfrm>
            <a:off x="3977640" y="4096512"/>
            <a:ext cx="2121408" cy="219456"/>
          </a:xfrm>
          <a:prstGeom prst="rect">
            <a:avLst/>
          </a:prstGeom>
          <a:noFill/>
          <a:ln/>
        </p:spPr>
        <p:txBody>
          <a:bodyPr wrap="square" lIns="0" tIns="0" rIns="0" bIns="0" rtlCol="0" anchor="ctr">
            <a:normAutofit/>
          </a:bodyPr>
          <a:lstStyle/>
          <a:p>
            <a:pPr algn="l" indent="0" marL="0">
              <a:buNone/>
            </a:pPr>
            <a:r>
              <a:rPr lang="en-US" sz="1170" dirty="0">
                <a:solidFill>
                  <a:srgbClr val="737373"/>
                </a:solidFill>
                <a:latin typeface="Aptos" pitchFamily="34" charset="0"/>
                <a:ea typeface="Aptos" pitchFamily="34" charset="-122"/>
                <a:cs typeface="Aptos" pitchFamily="34" charset="-120"/>
              </a:rPr>
              <a:t>Southeast</a:t>
            </a:r>
            <a:endParaRPr lang="en-US" sz="1170" dirty="0"/>
          </a:p>
        </p:txBody>
      </p:sp>
      <p:sp>
        <p:nvSpPr>
          <p:cNvPr id="31" name="Shape 29"/>
          <p:cNvSpPr/>
          <p:nvPr/>
        </p:nvSpPr>
        <p:spPr>
          <a:xfrm>
            <a:off x="3474720" y="5422392"/>
            <a:ext cx="2606040" cy="0"/>
          </a:xfrm>
          <a:prstGeom prst="line">
            <a:avLst/>
          </a:prstGeom>
          <a:noFill/>
          <a:ln w="12700">
            <a:solidFill>
              <a:srgbClr val="D8D8D5"/>
            </a:solidFill>
            <a:prstDash val="solid"/>
          </a:ln>
        </p:spPr>
      </p:sp>
      <p:sp>
        <p:nvSpPr>
          <p:cNvPr id="32" name="Text 30"/>
          <p:cNvSpPr/>
          <p:nvPr/>
        </p:nvSpPr>
        <p:spPr>
          <a:xfrm>
            <a:off x="3474720" y="4700016"/>
            <a:ext cx="411480" cy="310896"/>
          </a:xfrm>
          <a:prstGeom prst="rect">
            <a:avLst/>
          </a:prstGeom>
          <a:noFill/>
          <a:ln/>
        </p:spPr>
        <p:txBody>
          <a:bodyPr wrap="square" lIns="0" tIns="0" rIns="0" bIns="0" rtlCol="0" anchor="ctr">
            <a:normAutofit/>
          </a:bodyPr>
          <a:lstStyle/>
          <a:p>
            <a:pPr algn="l" indent="0" marL="0">
              <a:buNone/>
            </a:pPr>
            <a:r>
              <a:rPr lang="en-US" sz="1700" b="1" dirty="0">
                <a:solidFill>
                  <a:srgbClr val="191919"/>
                </a:solidFill>
                <a:latin typeface="Aptos" pitchFamily="34" charset="0"/>
                <a:ea typeface="Aptos" pitchFamily="34" charset="-122"/>
                <a:cs typeface="Aptos" pitchFamily="34" charset="-120"/>
              </a:rPr>
              <a:t>06</a:t>
            </a:r>
            <a:endParaRPr lang="en-US" sz="1700" dirty="0"/>
          </a:p>
        </p:txBody>
      </p:sp>
      <p:sp>
        <p:nvSpPr>
          <p:cNvPr id="33" name="Text 31"/>
          <p:cNvSpPr/>
          <p:nvPr/>
        </p:nvSpPr>
        <p:spPr>
          <a:xfrm>
            <a:off x="3977640" y="4700016"/>
            <a:ext cx="2112264" cy="274320"/>
          </a:xfrm>
          <a:prstGeom prst="rect">
            <a:avLst/>
          </a:prstGeom>
          <a:noFill/>
          <a:ln/>
        </p:spPr>
        <p:txBody>
          <a:bodyPr wrap="square" lIns="0" tIns="0" rIns="0" bIns="0" rtlCol="0" anchor="ctr">
            <a:normAutofit/>
          </a:bodyPr>
          <a:lstStyle/>
          <a:p>
            <a:pPr algn="l" indent="0" marL="0">
              <a:buNone/>
            </a:pPr>
            <a:r>
              <a:rPr lang="en-US" sz="1370" b="1" dirty="0">
                <a:solidFill>
                  <a:srgbClr val="191919"/>
                </a:solidFill>
                <a:latin typeface="Aptos" pitchFamily="34" charset="0"/>
                <a:ea typeface="Aptos" pitchFamily="34" charset="-122"/>
                <a:cs typeface="Aptos" pitchFamily="34" charset="-120"/>
              </a:rPr>
              <a:t>Competitive pressure</a:t>
            </a:r>
            <a:endParaRPr lang="en-US" sz="1370" dirty="0"/>
          </a:p>
        </p:txBody>
      </p:sp>
      <p:sp>
        <p:nvSpPr>
          <p:cNvPr id="34" name="Text 32"/>
          <p:cNvSpPr/>
          <p:nvPr/>
        </p:nvSpPr>
        <p:spPr>
          <a:xfrm>
            <a:off x="3977640" y="5047488"/>
            <a:ext cx="2121408" cy="219456"/>
          </a:xfrm>
          <a:prstGeom prst="rect">
            <a:avLst/>
          </a:prstGeom>
          <a:noFill/>
          <a:ln/>
        </p:spPr>
        <p:txBody>
          <a:bodyPr wrap="square" lIns="0" tIns="0" rIns="0" bIns="0" rtlCol="0" anchor="ctr">
            <a:normAutofit/>
          </a:bodyPr>
          <a:lstStyle/>
          <a:p>
            <a:pPr algn="l" indent="0" marL="0">
              <a:buNone/>
            </a:pPr>
            <a:r>
              <a:rPr lang="en-US" sz="1170" dirty="0">
                <a:solidFill>
                  <a:srgbClr val="737373"/>
                </a:solidFill>
                <a:latin typeface="Aptos" pitchFamily="34" charset="0"/>
                <a:ea typeface="Aptos" pitchFamily="34" charset="-122"/>
                <a:cs typeface="Aptos" pitchFamily="34" charset="-120"/>
              </a:rPr>
              <a:t>Southeast; overlaps with 05</a:t>
            </a:r>
            <a:endParaRPr lang="en-US" sz="1170" dirty="0"/>
          </a:p>
        </p:txBody>
      </p:sp>
      <p:sp>
        <p:nvSpPr>
          <p:cNvPr id="35" name="Shape 33"/>
          <p:cNvSpPr/>
          <p:nvPr/>
        </p:nvSpPr>
        <p:spPr>
          <a:xfrm>
            <a:off x="6483096" y="2368296"/>
            <a:ext cx="0" cy="3529584"/>
          </a:xfrm>
          <a:prstGeom prst="line">
            <a:avLst/>
          </a:prstGeom>
          <a:noFill/>
          <a:ln w="12700">
            <a:solidFill>
              <a:srgbClr val="D8D8D5"/>
            </a:solidFill>
            <a:prstDash val="solid"/>
          </a:ln>
        </p:spPr>
      </p:sp>
      <p:sp>
        <p:nvSpPr>
          <p:cNvPr id="36" name="Text 34"/>
          <p:cNvSpPr/>
          <p:nvPr/>
        </p:nvSpPr>
        <p:spPr>
          <a:xfrm>
            <a:off x="6784848" y="2432304"/>
            <a:ext cx="4572000" cy="201168"/>
          </a:xfrm>
          <a:prstGeom prst="rect">
            <a:avLst/>
          </a:prstGeom>
          <a:noFill/>
          <a:ln/>
        </p:spPr>
        <p:txBody>
          <a:bodyPr wrap="square" lIns="0" tIns="0" rIns="0" bIns="0" rtlCol="0" anchor="ctr">
            <a:normAutofit/>
          </a:bodyPr>
          <a:lstStyle/>
          <a:p>
            <a:pPr algn="l" indent="0" marL="0">
              <a:buNone/>
            </a:pPr>
            <a:r>
              <a:rPr lang="en-US" sz="1120" b="1" spc="100" kern="0" dirty="0">
                <a:solidFill>
                  <a:srgbClr val="585858"/>
                </a:solidFill>
                <a:latin typeface="Aptos" pitchFamily="34" charset="0"/>
                <a:ea typeface="Aptos" pitchFamily="34" charset="-122"/>
                <a:cs typeface="Aptos" pitchFamily="34" charset="-120"/>
              </a:rPr>
              <a:t>THREE DATA-QUALITY SCENARIOS</a:t>
            </a:r>
            <a:endParaRPr lang="en-US" sz="1120" dirty="0"/>
          </a:p>
        </p:txBody>
      </p:sp>
      <p:sp>
        <p:nvSpPr>
          <p:cNvPr id="37" name="Text 35"/>
          <p:cNvSpPr/>
          <p:nvPr/>
        </p:nvSpPr>
        <p:spPr>
          <a:xfrm>
            <a:off x="6784848" y="2807208"/>
            <a:ext cx="1097280" cy="384048"/>
          </a:xfrm>
          <a:prstGeom prst="rect">
            <a:avLst/>
          </a:prstGeom>
          <a:noFill/>
          <a:ln/>
        </p:spPr>
        <p:txBody>
          <a:bodyPr wrap="square" lIns="0" tIns="0" rIns="0" bIns="0" rtlCol="0" anchor="ctr">
            <a:normAutofit/>
          </a:bodyPr>
          <a:lstStyle/>
          <a:p>
            <a:pPr algn="l" indent="0" marL="0">
              <a:buNone/>
            </a:pPr>
            <a:r>
              <a:rPr lang="en-US" sz="2500" b="1" dirty="0">
                <a:solidFill>
                  <a:srgbClr val="191919"/>
                </a:solidFill>
                <a:latin typeface="Aptos" pitchFamily="34" charset="0"/>
                <a:ea typeface="Aptos" pitchFamily="34" charset="-122"/>
                <a:cs typeface="Aptos" pitchFamily="34" charset="-120"/>
              </a:rPr>
              <a:t>44</a:t>
            </a:r>
            <a:endParaRPr lang="en-US" sz="2500" dirty="0"/>
          </a:p>
        </p:txBody>
      </p:sp>
      <p:sp>
        <p:nvSpPr>
          <p:cNvPr id="38" name="Text 36"/>
          <p:cNvSpPr/>
          <p:nvPr/>
        </p:nvSpPr>
        <p:spPr>
          <a:xfrm>
            <a:off x="7946136" y="2843784"/>
            <a:ext cx="3566160" cy="292608"/>
          </a:xfrm>
          <a:prstGeom prst="rect">
            <a:avLst/>
          </a:prstGeom>
          <a:noFill/>
          <a:ln/>
        </p:spPr>
        <p:txBody>
          <a:bodyPr wrap="square" lIns="0" tIns="0" rIns="0" bIns="0" rtlCol="0" anchor="ctr">
            <a:normAutofit/>
          </a:bodyPr>
          <a:lstStyle/>
          <a:p>
            <a:pPr algn="l" indent="0" marL="0">
              <a:buNone/>
            </a:pPr>
            <a:r>
              <a:rPr lang="en-US" sz="1420" dirty="0">
                <a:solidFill>
                  <a:srgbClr val="343434"/>
                </a:solidFill>
                <a:latin typeface="Aptos" pitchFamily="34" charset="0"/>
                <a:ea typeface="Aptos" pitchFamily="34" charset="-122"/>
                <a:cs typeface="Aptos" pitchFamily="34" charset="-120"/>
              </a:rPr>
              <a:t>missing Rx rows</a:t>
            </a:r>
            <a:endParaRPr lang="en-US" sz="1420" dirty="0"/>
          </a:p>
        </p:txBody>
      </p:sp>
      <p:sp>
        <p:nvSpPr>
          <p:cNvPr id="39" name="Shape 37"/>
          <p:cNvSpPr/>
          <p:nvPr/>
        </p:nvSpPr>
        <p:spPr>
          <a:xfrm>
            <a:off x="6784848" y="3419856"/>
            <a:ext cx="4700016" cy="0"/>
          </a:xfrm>
          <a:prstGeom prst="line">
            <a:avLst/>
          </a:prstGeom>
          <a:noFill/>
          <a:ln w="12700">
            <a:solidFill>
              <a:srgbClr val="D8D8D5"/>
            </a:solidFill>
            <a:prstDash val="solid"/>
          </a:ln>
        </p:spPr>
      </p:sp>
      <p:sp>
        <p:nvSpPr>
          <p:cNvPr id="40" name="Text 38"/>
          <p:cNvSpPr/>
          <p:nvPr/>
        </p:nvSpPr>
        <p:spPr>
          <a:xfrm>
            <a:off x="6784848" y="3584448"/>
            <a:ext cx="1097280" cy="384048"/>
          </a:xfrm>
          <a:prstGeom prst="rect">
            <a:avLst/>
          </a:prstGeom>
          <a:noFill/>
          <a:ln/>
        </p:spPr>
        <p:txBody>
          <a:bodyPr wrap="square" lIns="0" tIns="0" rIns="0" bIns="0" rtlCol="0" anchor="ctr">
            <a:normAutofit/>
          </a:bodyPr>
          <a:lstStyle/>
          <a:p>
            <a:pPr algn="l" indent="0" marL="0">
              <a:buNone/>
            </a:pPr>
            <a:r>
              <a:rPr lang="en-US" sz="2500" b="1" dirty="0">
                <a:solidFill>
                  <a:srgbClr val="191919"/>
                </a:solidFill>
                <a:latin typeface="Aptos" pitchFamily="34" charset="0"/>
                <a:ea typeface="Aptos" pitchFamily="34" charset="-122"/>
                <a:cs typeface="Aptos" pitchFamily="34" charset="-120"/>
              </a:rPr>
              <a:t>15</a:t>
            </a:r>
            <a:endParaRPr lang="en-US" sz="2500" dirty="0"/>
          </a:p>
        </p:txBody>
      </p:sp>
      <p:sp>
        <p:nvSpPr>
          <p:cNvPr id="41" name="Text 39"/>
          <p:cNvSpPr/>
          <p:nvPr/>
        </p:nvSpPr>
        <p:spPr>
          <a:xfrm>
            <a:off x="7946136" y="3621024"/>
            <a:ext cx="3566160" cy="292608"/>
          </a:xfrm>
          <a:prstGeom prst="rect">
            <a:avLst/>
          </a:prstGeom>
          <a:noFill/>
          <a:ln/>
        </p:spPr>
        <p:txBody>
          <a:bodyPr wrap="square" lIns="0" tIns="0" rIns="0" bIns="0" rtlCol="0" anchor="ctr">
            <a:normAutofit/>
          </a:bodyPr>
          <a:lstStyle/>
          <a:p>
            <a:pPr algn="l" indent="0" marL="0">
              <a:buNone/>
            </a:pPr>
            <a:r>
              <a:rPr lang="en-US" sz="1420" dirty="0">
                <a:solidFill>
                  <a:srgbClr val="343434"/>
                </a:solidFill>
                <a:latin typeface="Aptos" pitchFamily="34" charset="0"/>
                <a:ea typeface="Aptos" pitchFamily="34" charset="-122"/>
                <a:cs typeface="Aptos" pitchFamily="34" charset="-120"/>
              </a:rPr>
              <a:t>duplicated composite keys</a:t>
            </a:r>
            <a:endParaRPr lang="en-US" sz="1420" dirty="0"/>
          </a:p>
        </p:txBody>
      </p:sp>
      <p:sp>
        <p:nvSpPr>
          <p:cNvPr id="42" name="Shape 40"/>
          <p:cNvSpPr/>
          <p:nvPr/>
        </p:nvSpPr>
        <p:spPr>
          <a:xfrm>
            <a:off x="6784848" y="4197096"/>
            <a:ext cx="4700016" cy="0"/>
          </a:xfrm>
          <a:prstGeom prst="line">
            <a:avLst/>
          </a:prstGeom>
          <a:noFill/>
          <a:ln w="12700">
            <a:solidFill>
              <a:srgbClr val="D8D8D5"/>
            </a:solidFill>
            <a:prstDash val="solid"/>
          </a:ln>
        </p:spPr>
      </p:sp>
      <p:sp>
        <p:nvSpPr>
          <p:cNvPr id="43" name="Text 41"/>
          <p:cNvSpPr/>
          <p:nvPr/>
        </p:nvSpPr>
        <p:spPr>
          <a:xfrm>
            <a:off x="6784848" y="4361688"/>
            <a:ext cx="1097280" cy="384048"/>
          </a:xfrm>
          <a:prstGeom prst="rect">
            <a:avLst/>
          </a:prstGeom>
          <a:noFill/>
          <a:ln/>
        </p:spPr>
        <p:txBody>
          <a:bodyPr wrap="square" lIns="0" tIns="0" rIns="0" bIns="0" rtlCol="0" anchor="ctr">
            <a:normAutofit/>
          </a:bodyPr>
          <a:lstStyle/>
          <a:p>
            <a:pPr algn="l" indent="0" marL="0">
              <a:buNone/>
            </a:pPr>
            <a:r>
              <a:rPr lang="en-US" sz="2500" b="1" dirty="0">
                <a:solidFill>
                  <a:srgbClr val="191919"/>
                </a:solidFill>
                <a:latin typeface="Aptos" pitchFamily="34" charset="0"/>
                <a:ea typeface="Aptos" pitchFamily="34" charset="-122"/>
                <a:cs typeface="Aptos" pitchFamily="34" charset="-120"/>
              </a:rPr>
              <a:t>01</a:t>
            </a:r>
            <a:endParaRPr lang="en-US" sz="2500" dirty="0"/>
          </a:p>
        </p:txBody>
      </p:sp>
      <p:sp>
        <p:nvSpPr>
          <p:cNvPr id="44" name="Text 42"/>
          <p:cNvSpPr/>
          <p:nvPr/>
        </p:nvSpPr>
        <p:spPr>
          <a:xfrm>
            <a:off x="7946136" y="4398264"/>
            <a:ext cx="3566160" cy="292608"/>
          </a:xfrm>
          <a:prstGeom prst="rect">
            <a:avLst/>
          </a:prstGeom>
          <a:noFill/>
          <a:ln/>
        </p:spPr>
        <p:txBody>
          <a:bodyPr wrap="square" lIns="0" tIns="0" rIns="0" bIns="0" rtlCol="0" anchor="ctr">
            <a:normAutofit/>
          </a:bodyPr>
          <a:lstStyle/>
          <a:p>
            <a:pPr algn="l" indent="0" marL="0">
              <a:buNone/>
            </a:pPr>
            <a:r>
              <a:rPr lang="en-US" sz="1420" dirty="0">
                <a:solidFill>
                  <a:srgbClr val="343434"/>
                </a:solidFill>
                <a:latin typeface="Aptos" pitchFamily="34" charset="0"/>
                <a:ea typeface="Aptos" pitchFamily="34" charset="-122"/>
                <a:cs typeface="Aptos" pitchFamily="34" charset="-120"/>
              </a:rPr>
              <a:t>historical restatement case</a:t>
            </a:r>
            <a:endParaRPr lang="en-US" sz="1420" dirty="0"/>
          </a:p>
        </p:txBody>
      </p:sp>
      <p:sp>
        <p:nvSpPr>
          <p:cNvPr id="45" name="Shape 43"/>
          <p:cNvSpPr/>
          <p:nvPr/>
        </p:nvSpPr>
        <p:spPr>
          <a:xfrm>
            <a:off x="6784848" y="4974336"/>
            <a:ext cx="4700016" cy="0"/>
          </a:xfrm>
          <a:prstGeom prst="line">
            <a:avLst/>
          </a:prstGeom>
          <a:noFill/>
          <a:ln w="12700">
            <a:solidFill>
              <a:srgbClr val="D8D8D5"/>
            </a:solidFill>
            <a:prstDash val="solid"/>
          </a:ln>
        </p:spPr>
      </p:sp>
      <p:sp>
        <p:nvSpPr>
          <p:cNvPr id="46" name="Shape 44"/>
          <p:cNvSpPr/>
          <p:nvPr/>
        </p:nvSpPr>
        <p:spPr>
          <a:xfrm>
            <a:off x="6793992" y="5367528"/>
            <a:ext cx="4672584" cy="512064"/>
          </a:xfrm>
          <a:prstGeom prst="rect">
            <a:avLst>
              <a:gd name="adj" fmla="val 10714"/>
            </a:avLst>
          </a:prstGeom>
          <a:solidFill>
            <a:srgbClr val="F6F6F4"/>
          </a:solidFill>
          <a:ln w="10795">
            <a:solidFill>
              <a:srgbClr val="D8D8D5"/>
            </a:solidFill>
            <a:prstDash val="solid"/>
          </a:ln>
        </p:spPr>
      </p:sp>
      <p:sp>
        <p:nvSpPr>
          <p:cNvPr id="47" name="Text 45"/>
          <p:cNvSpPr/>
          <p:nvPr/>
        </p:nvSpPr>
        <p:spPr>
          <a:xfrm>
            <a:off x="6922008" y="5477256"/>
            <a:ext cx="4453128" cy="301752"/>
          </a:xfrm>
          <a:prstGeom prst="rect">
            <a:avLst/>
          </a:prstGeom>
          <a:noFill/>
          <a:ln/>
        </p:spPr>
        <p:txBody>
          <a:bodyPr wrap="square" lIns="0" tIns="0" rIns="0" bIns="0" rtlCol="0" anchor="ctr">
            <a:normAutofit/>
          </a:bodyPr>
          <a:lstStyle/>
          <a:p>
            <a:pPr algn="l" indent="0" marL="0">
              <a:buNone/>
            </a:pPr>
            <a:r>
              <a:rPr lang="en-US" sz="1070" b="1" dirty="0">
                <a:solidFill>
                  <a:srgbClr val="343434"/>
                </a:solidFill>
                <a:latin typeface="Aptos" pitchFamily="34" charset="0"/>
                <a:ea typeface="Aptos" pitchFamily="34" charset="-122"/>
                <a:cs typeface="Aptos" pitchFamily="34" charset="-120"/>
              </a:rPr>
              <a:t>Verified: hierarchy  ·  share sums  ·  forecast reconciliation  ·  reproducibility</a:t>
            </a:r>
            <a:endParaRPr lang="en-US" sz="1070" dirty="0"/>
          </a:p>
        </p:txBody>
      </p:sp>
      <p:sp>
        <p:nvSpPr>
          <p:cNvPr id="48" name="Text 46"/>
          <p:cNvSpPr/>
          <p:nvPr/>
        </p:nvSpPr>
        <p:spPr>
          <a:xfrm>
            <a:off x="557784" y="6172200"/>
            <a:ext cx="11018520" cy="201168"/>
          </a:xfrm>
          <a:prstGeom prst="rect">
            <a:avLst/>
          </a:prstGeom>
          <a:noFill/>
          <a:ln/>
        </p:spPr>
        <p:txBody>
          <a:bodyPr wrap="square" lIns="0" tIns="0" rIns="0" bIns="0" rtlCol="0" anchor="ctr">
            <a:normAutofit/>
          </a:bodyPr>
          <a:lstStyle/>
          <a:p>
            <a:pPr algn="l" indent="0" marL="0">
              <a:buNone/>
            </a:pPr>
            <a:r>
              <a:rPr lang="en-US" sz="1190" dirty="0">
                <a:solidFill>
                  <a:srgbClr val="585858"/>
                </a:solidFill>
                <a:latin typeface="Aptos" pitchFamily="34" charset="0"/>
                <a:ea typeface="Aptos" pitchFamily="34" charset="-122"/>
                <a:cs typeface="Aptos" pitchFamily="34" charset="-120"/>
              </a:rPr>
              <a:t>Seasonality is simulated in the baseline; a separately labeled seasonality event is pending.</a:t>
            </a:r>
            <a:endParaRPr lang="en-US" sz="119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310896"/>
            <a:ext cx="7315200" cy="201168"/>
          </a:xfrm>
          <a:prstGeom prst="rect">
            <a:avLst/>
          </a:prstGeom>
          <a:noFill/>
          <a:ln/>
        </p:spPr>
        <p:txBody>
          <a:bodyPr wrap="square" lIns="0" tIns="0" rIns="0" bIns="0" rtlCol="0" anchor="ctr">
            <a:normAutofit/>
          </a:bodyPr>
          <a:lstStyle/>
          <a:p>
            <a:pPr algn="l" indent="0" marL="0">
              <a:buNone/>
            </a:pPr>
            <a:r>
              <a:rPr lang="en-US" sz="1000" b="1" spc="160" kern="0" dirty="0">
                <a:solidFill>
                  <a:srgbClr val="737373"/>
                </a:solidFill>
                <a:latin typeface="Aptos" pitchFamily="34" charset="0"/>
                <a:ea typeface="Aptos" pitchFamily="34" charset="-122"/>
                <a:cs typeface="Aptos" pitchFamily="34" charset="-120"/>
              </a:rPr>
              <a:t>PHARMAGENTICS  /  RESEARCH UPDATE</a:t>
            </a:r>
            <a:endParaRPr lang="en-US" sz="1000" dirty="0"/>
          </a:p>
        </p:txBody>
      </p:sp>
      <p:sp>
        <p:nvSpPr>
          <p:cNvPr id="3" name="Text 1"/>
          <p:cNvSpPr/>
          <p:nvPr/>
        </p:nvSpPr>
        <p:spPr>
          <a:xfrm>
            <a:off x="10744200" y="310896"/>
            <a:ext cx="896112" cy="201168"/>
          </a:xfrm>
          <a:prstGeom prst="rect">
            <a:avLst/>
          </a:prstGeom>
          <a:noFill/>
          <a:ln/>
        </p:spPr>
        <p:txBody>
          <a:bodyPr wrap="square" lIns="0" tIns="0" rIns="0" bIns="0" rtlCol="0" anchor="ctr">
            <a:normAutofit/>
          </a:bodyPr>
          <a:lstStyle/>
          <a:p>
            <a:pPr algn="r" indent="0" marL="0">
              <a:buNone/>
            </a:pPr>
            <a:r>
              <a:rPr lang="en-US" sz="1000" dirty="0">
                <a:solidFill>
                  <a:srgbClr val="737373"/>
                </a:solidFill>
                <a:latin typeface="Aptos" pitchFamily="34" charset="0"/>
                <a:ea typeface="Aptos" pitchFamily="34" charset="-122"/>
                <a:cs typeface="Aptos" pitchFamily="34" charset="-120"/>
              </a:rPr>
              <a:t>05 / 06</a:t>
            </a:r>
            <a:endParaRPr lang="en-US" sz="1000" dirty="0"/>
          </a:p>
        </p:txBody>
      </p:sp>
      <p:sp>
        <p:nvSpPr>
          <p:cNvPr id="4" name="Shape 2"/>
          <p:cNvSpPr/>
          <p:nvPr/>
        </p:nvSpPr>
        <p:spPr>
          <a:xfrm>
            <a:off x="548640" y="630936"/>
            <a:ext cx="11082528" cy="0"/>
          </a:xfrm>
          <a:prstGeom prst="line">
            <a:avLst/>
          </a:prstGeom>
          <a:noFill/>
          <a:ln w="12700">
            <a:solidFill>
              <a:srgbClr val="D8D8D5"/>
            </a:solidFill>
            <a:prstDash val="solid"/>
          </a:ln>
        </p:spPr>
      </p:sp>
      <p:sp>
        <p:nvSpPr>
          <p:cNvPr id="5" name="Text 3"/>
          <p:cNvSpPr/>
          <p:nvPr/>
        </p:nvSpPr>
        <p:spPr>
          <a:xfrm>
            <a:off x="548640" y="832104"/>
            <a:ext cx="8229600" cy="182880"/>
          </a:xfrm>
          <a:prstGeom prst="rect">
            <a:avLst/>
          </a:prstGeom>
          <a:noFill/>
          <a:ln/>
        </p:spPr>
        <p:txBody>
          <a:bodyPr wrap="square" lIns="0" tIns="0" rIns="0" bIns="0" rtlCol="0" anchor="ctr">
            <a:normAutofit/>
          </a:bodyPr>
          <a:lstStyle/>
          <a:p>
            <a:pPr algn="l" indent="0" marL="0">
              <a:buNone/>
            </a:pPr>
            <a:r>
              <a:rPr lang="en-US" sz="1050" b="1" spc="140" kern="0" dirty="0">
                <a:solidFill>
                  <a:srgbClr val="585858"/>
                </a:solidFill>
                <a:latin typeface="Aptos" pitchFamily="34" charset="0"/>
                <a:ea typeface="Aptos" pitchFamily="34" charset="-122"/>
                <a:cs typeface="Aptos" pitchFamily="34" charset="-120"/>
              </a:rPr>
              <a:t>EMPIRICAL SOURCES</a:t>
            </a:r>
            <a:endParaRPr lang="en-US" sz="1050" dirty="0"/>
          </a:p>
        </p:txBody>
      </p:sp>
      <p:sp>
        <p:nvSpPr>
          <p:cNvPr id="6" name="Text 4"/>
          <p:cNvSpPr/>
          <p:nvPr/>
        </p:nvSpPr>
        <p:spPr>
          <a:xfrm>
            <a:off x="548640" y="1124712"/>
            <a:ext cx="11064240" cy="521208"/>
          </a:xfrm>
          <a:prstGeom prst="rect">
            <a:avLst/>
          </a:prstGeom>
          <a:noFill/>
          <a:ln/>
        </p:spPr>
        <p:txBody>
          <a:bodyPr wrap="square" lIns="0" tIns="0" rIns="0" bIns="0" rtlCol="0" anchor="ctr">
            <a:normAutofit/>
          </a:bodyPr>
          <a:lstStyle/>
          <a:p>
            <a:pPr algn="l" indent="0" marL="0">
              <a:buNone/>
            </a:pPr>
            <a:r>
              <a:rPr lang="en-US" sz="3050" b="1" dirty="0">
                <a:solidFill>
                  <a:srgbClr val="191919"/>
                </a:solidFill>
                <a:latin typeface="Aptos Display" pitchFamily="34" charset="0"/>
                <a:ea typeface="Aptos Display" pitchFamily="34" charset="-122"/>
                <a:cs typeface="Aptos Display" pitchFamily="34" charset="-120"/>
              </a:rPr>
              <a:t>Public references: documented, not yet fitted</a:t>
            </a:r>
            <a:endParaRPr lang="en-US" sz="3050" dirty="0"/>
          </a:p>
        </p:txBody>
      </p:sp>
      <p:sp>
        <p:nvSpPr>
          <p:cNvPr id="7" name="Text 5"/>
          <p:cNvSpPr/>
          <p:nvPr/>
        </p:nvSpPr>
        <p:spPr>
          <a:xfrm>
            <a:off x="548640" y="1755648"/>
            <a:ext cx="11018520" cy="411480"/>
          </a:xfrm>
          <a:prstGeom prst="rect">
            <a:avLst/>
          </a:prstGeom>
          <a:noFill/>
          <a:ln/>
        </p:spPr>
        <p:txBody>
          <a:bodyPr wrap="square" lIns="0" tIns="0" rIns="0" bIns="0" rtlCol="0" anchor="ctr">
            <a:normAutofit/>
          </a:bodyPr>
          <a:lstStyle/>
          <a:p>
            <a:pPr algn="l" indent="0" marL="0">
              <a:buNone/>
            </a:pPr>
            <a:r>
              <a:rPr lang="en-US" sz="1400" dirty="0">
                <a:solidFill>
                  <a:srgbClr val="585858"/>
                </a:solidFill>
                <a:latin typeface="Aptos" pitchFamily="34" charset="0"/>
                <a:ea typeface="Aptos" pitchFamily="34" charset="-122"/>
                <a:cs typeface="Aptos" pitchFamily="34" charset="-120"/>
              </a:rPr>
              <a:t>We researched source structures; v0 numerical parameters were not estimated from real records.</a:t>
            </a:r>
            <a:endParaRPr lang="en-US" sz="1400" dirty="0"/>
          </a:p>
        </p:txBody>
      </p:sp>
      <p:sp>
        <p:nvSpPr>
          <p:cNvPr id="8" name="Shape 6"/>
          <p:cNvSpPr/>
          <p:nvPr/>
        </p:nvSpPr>
        <p:spPr>
          <a:xfrm>
            <a:off x="548640" y="6483096"/>
            <a:ext cx="11082528" cy="0"/>
          </a:xfrm>
          <a:prstGeom prst="line">
            <a:avLst/>
          </a:prstGeom>
          <a:noFill/>
          <a:ln w="12700">
            <a:solidFill>
              <a:srgbClr val="D8D8D5"/>
            </a:solidFill>
            <a:prstDash val="solid"/>
          </a:ln>
        </p:spPr>
      </p:sp>
      <p:sp>
        <p:nvSpPr>
          <p:cNvPr id="9" name="Text 7"/>
          <p:cNvSpPr/>
          <p:nvPr/>
        </p:nvSpPr>
        <p:spPr>
          <a:xfrm>
            <a:off x="548640" y="6565392"/>
            <a:ext cx="8229600" cy="146304"/>
          </a:xfrm>
          <a:prstGeom prst="rect">
            <a:avLst/>
          </a:prstGeom>
          <a:noFill/>
          <a:ln/>
        </p:spPr>
        <p:txBody>
          <a:bodyPr wrap="square" lIns="0" tIns="0" rIns="0" bIns="0" rtlCol="0" anchor="ctr">
            <a:normAutofit/>
          </a:bodyPr>
          <a:lstStyle/>
          <a:p>
            <a:pPr algn="l" indent="0" marL="0">
              <a:buNone/>
            </a:pPr>
            <a:r>
              <a:rPr lang="en-US" sz="900" dirty="0">
                <a:solidFill>
                  <a:srgbClr val="737373"/>
                </a:solidFill>
                <a:latin typeface="Aptos" pitchFamily="34" charset="0"/>
                <a:ea typeface="Aptos" pitchFamily="34" charset="-122"/>
                <a:cs typeface="Aptos" pitchFamily="34" charset="-120"/>
              </a:rPr>
              <a:t>SYNTHETIC DATA METHODOLOGY  ·  OCT 2026</a:t>
            </a:r>
            <a:endParaRPr lang="en-US" sz="900" dirty="0"/>
          </a:p>
        </p:txBody>
      </p:sp>
      <p:sp>
        <p:nvSpPr>
          <p:cNvPr id="10" name="Text 8"/>
          <p:cNvSpPr/>
          <p:nvPr/>
        </p:nvSpPr>
        <p:spPr>
          <a:xfrm>
            <a:off x="630936" y="2368296"/>
            <a:ext cx="3566160" cy="201168"/>
          </a:xfrm>
          <a:prstGeom prst="rect">
            <a:avLst/>
          </a:prstGeom>
          <a:noFill/>
          <a:ln/>
        </p:spPr>
        <p:txBody>
          <a:bodyPr wrap="square" lIns="0" tIns="0" rIns="0" bIns="0" rtlCol="0" anchor="ctr">
            <a:normAutofit/>
          </a:bodyPr>
          <a:lstStyle/>
          <a:p>
            <a:pPr algn="l" indent="0" marL="0">
              <a:buNone/>
            </a:pPr>
            <a:r>
              <a:rPr lang="en-US" sz="1020" b="1" spc="100" kern="0" dirty="0">
                <a:solidFill>
                  <a:srgbClr val="585858"/>
                </a:solidFill>
                <a:latin typeface="Aptos" pitchFamily="34" charset="0"/>
                <a:ea typeface="Aptos" pitchFamily="34" charset="-122"/>
                <a:cs typeface="Aptos" pitchFamily="34" charset="-120"/>
              </a:rPr>
              <a:t>SOURCE</a:t>
            </a:r>
            <a:endParaRPr lang="en-US" sz="1020" dirty="0"/>
          </a:p>
        </p:txBody>
      </p:sp>
      <p:sp>
        <p:nvSpPr>
          <p:cNvPr id="11" name="Text 9"/>
          <p:cNvSpPr/>
          <p:nvPr/>
        </p:nvSpPr>
        <p:spPr>
          <a:xfrm>
            <a:off x="4572000" y="2368296"/>
            <a:ext cx="2743200" cy="201168"/>
          </a:xfrm>
          <a:prstGeom prst="rect">
            <a:avLst/>
          </a:prstGeom>
          <a:noFill/>
          <a:ln/>
        </p:spPr>
        <p:txBody>
          <a:bodyPr wrap="square" lIns="0" tIns="0" rIns="0" bIns="0" rtlCol="0" anchor="ctr">
            <a:normAutofit/>
          </a:bodyPr>
          <a:lstStyle/>
          <a:p>
            <a:pPr algn="l" indent="0" marL="0">
              <a:buNone/>
            </a:pPr>
            <a:r>
              <a:rPr lang="en-US" sz="1020" b="1" spc="100" kern="0" dirty="0">
                <a:solidFill>
                  <a:srgbClr val="585858"/>
                </a:solidFill>
                <a:latin typeface="Aptos" pitchFamily="34" charset="0"/>
                <a:ea typeface="Aptos" pitchFamily="34" charset="-122"/>
                <a:cs typeface="Aptos" pitchFamily="34" charset="-120"/>
              </a:rPr>
              <a:t>REPORTING GRAIN</a:t>
            </a:r>
            <a:endParaRPr lang="en-US" sz="1020" dirty="0"/>
          </a:p>
        </p:txBody>
      </p:sp>
      <p:sp>
        <p:nvSpPr>
          <p:cNvPr id="12" name="Text 10"/>
          <p:cNvSpPr/>
          <p:nvPr/>
        </p:nvSpPr>
        <p:spPr>
          <a:xfrm>
            <a:off x="7498080" y="2368296"/>
            <a:ext cx="3977640" cy="201168"/>
          </a:xfrm>
          <a:prstGeom prst="rect">
            <a:avLst/>
          </a:prstGeom>
          <a:noFill/>
          <a:ln/>
        </p:spPr>
        <p:txBody>
          <a:bodyPr wrap="square" lIns="0" tIns="0" rIns="0" bIns="0" rtlCol="0" anchor="ctr">
            <a:normAutofit/>
          </a:bodyPr>
          <a:lstStyle/>
          <a:p>
            <a:pPr algn="l" indent="0" marL="0">
              <a:buNone/>
            </a:pPr>
            <a:r>
              <a:rPr lang="en-US" sz="1020" b="1" spc="100" kern="0" dirty="0">
                <a:solidFill>
                  <a:srgbClr val="585858"/>
                </a:solidFill>
                <a:latin typeface="Aptos" pitchFamily="34" charset="0"/>
                <a:ea typeface="Aptos" pitchFamily="34" charset="-122"/>
                <a:cs typeface="Aptos" pitchFamily="34" charset="-120"/>
              </a:rPr>
              <a:t>USE FOR CALIBRATION</a:t>
            </a:r>
            <a:endParaRPr lang="en-US" sz="1020" dirty="0"/>
          </a:p>
        </p:txBody>
      </p:sp>
      <p:sp>
        <p:nvSpPr>
          <p:cNvPr id="13" name="Shape 11"/>
          <p:cNvSpPr/>
          <p:nvPr/>
        </p:nvSpPr>
        <p:spPr>
          <a:xfrm>
            <a:off x="594360" y="2706624"/>
            <a:ext cx="10991088" cy="0"/>
          </a:xfrm>
          <a:prstGeom prst="line">
            <a:avLst/>
          </a:prstGeom>
          <a:noFill/>
          <a:ln w="11430">
            <a:solidFill>
              <a:srgbClr val="343434"/>
            </a:solidFill>
            <a:prstDash val="solid"/>
          </a:ln>
        </p:spPr>
      </p:sp>
      <p:sp>
        <p:nvSpPr>
          <p:cNvPr id="14" name="Text 12">
            <a:hlinkClick r:id="rId1" tooltip=""/>
          </p:cNvPr>
          <p:cNvSpPr/>
          <p:nvPr/>
        </p:nvSpPr>
        <p:spPr>
          <a:xfrm>
            <a:off x="630936" y="2825496"/>
            <a:ext cx="3694176" cy="347472"/>
          </a:xfrm>
          <a:prstGeom prst="rect">
            <a:avLst/>
          </a:prstGeom>
          <a:noFill/>
          <a:ln/>
        </p:spPr>
        <p:txBody>
          <a:bodyPr wrap="square" lIns="0" tIns="0" rIns="0" bIns="0" rtlCol="0" anchor="ctr">
            <a:normAutofit/>
          </a:bodyPr>
          <a:lstStyle/>
          <a:p>
            <a:pPr algn="l" indent="0" marL="0">
              <a:buNone/>
            </a:pPr>
            <a:r>
              <a:rPr lang="en-US" sz="1330" b="1" u="sng" dirty="0">
                <a:solidFill>
                  <a:srgbClr val="191919"/>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Medicaid SDUD</a:t>
            </a:r>
            <a:endParaRPr lang="en-US" sz="1330" dirty="0"/>
          </a:p>
        </p:txBody>
      </p:sp>
      <p:sp>
        <p:nvSpPr>
          <p:cNvPr id="15" name="Text 13"/>
          <p:cNvSpPr/>
          <p:nvPr/>
        </p:nvSpPr>
        <p:spPr>
          <a:xfrm>
            <a:off x="4572000" y="2825496"/>
            <a:ext cx="2788920" cy="347472"/>
          </a:xfrm>
          <a:prstGeom prst="rect">
            <a:avLst/>
          </a:prstGeom>
          <a:noFill/>
          <a:ln/>
        </p:spPr>
        <p:txBody>
          <a:bodyPr wrap="square" lIns="0" tIns="0" rIns="0" bIns="0" rtlCol="0" anchor="ctr">
            <a:normAutofit/>
          </a:bodyPr>
          <a:lstStyle/>
          <a:p>
            <a:pPr algn="l" indent="0" marL="0">
              <a:buNone/>
            </a:pPr>
            <a:r>
              <a:rPr lang="en-US" sz="1230" dirty="0">
                <a:solidFill>
                  <a:srgbClr val="585858"/>
                </a:solidFill>
                <a:latin typeface="Aptos" pitchFamily="34" charset="0"/>
                <a:ea typeface="Aptos" pitchFamily="34" charset="-122"/>
                <a:cs typeface="Aptos" pitchFamily="34" charset="-120"/>
              </a:rPr>
              <a:t>State × NDC × quarter</a:t>
            </a:r>
            <a:endParaRPr lang="en-US" sz="1230" dirty="0"/>
          </a:p>
        </p:txBody>
      </p:sp>
      <p:sp>
        <p:nvSpPr>
          <p:cNvPr id="16" name="Text 14"/>
          <p:cNvSpPr/>
          <p:nvPr/>
        </p:nvSpPr>
        <p:spPr>
          <a:xfrm>
            <a:off x="7498080" y="2825496"/>
            <a:ext cx="3931920" cy="347472"/>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Actual quarterly utilization</a:t>
            </a:r>
            <a:endParaRPr lang="en-US" sz="1260" dirty="0"/>
          </a:p>
        </p:txBody>
      </p:sp>
      <p:sp>
        <p:nvSpPr>
          <p:cNvPr id="17" name="Shape 15"/>
          <p:cNvSpPr/>
          <p:nvPr/>
        </p:nvSpPr>
        <p:spPr>
          <a:xfrm>
            <a:off x="594360" y="3300984"/>
            <a:ext cx="10991088" cy="0"/>
          </a:xfrm>
          <a:prstGeom prst="line">
            <a:avLst/>
          </a:prstGeom>
          <a:noFill/>
          <a:ln w="12700">
            <a:solidFill>
              <a:srgbClr val="D8D8D5"/>
            </a:solidFill>
            <a:prstDash val="solid"/>
          </a:ln>
        </p:spPr>
      </p:sp>
      <p:sp>
        <p:nvSpPr>
          <p:cNvPr id="18" name="Text 16">
            <a:hlinkClick r:id="rId2" tooltip=""/>
          </p:cNvPr>
          <p:cNvSpPr/>
          <p:nvPr/>
        </p:nvSpPr>
        <p:spPr>
          <a:xfrm>
            <a:off x="630936" y="3364992"/>
            <a:ext cx="3694176" cy="347472"/>
          </a:xfrm>
          <a:prstGeom prst="rect">
            <a:avLst/>
          </a:prstGeom>
          <a:noFill/>
          <a:ln/>
        </p:spPr>
        <p:txBody>
          <a:bodyPr wrap="square" lIns="0" tIns="0" rIns="0" bIns="0" rtlCol="0" anchor="ctr">
            <a:normAutofit/>
          </a:bodyPr>
          <a:lstStyle/>
          <a:p>
            <a:pPr algn="l" indent="0" marL="0">
              <a:buNone/>
            </a:pPr>
            <a:r>
              <a:rPr lang="en-US" sz="1330" u="sng" dirty="0">
                <a:solidFill>
                  <a:srgbClr val="191919"/>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Medicare Part D · Geography &amp; Drug</a:t>
            </a:r>
            <a:endParaRPr lang="en-US" sz="1330" dirty="0"/>
          </a:p>
        </p:txBody>
      </p:sp>
      <p:sp>
        <p:nvSpPr>
          <p:cNvPr id="19" name="Text 17"/>
          <p:cNvSpPr/>
          <p:nvPr/>
        </p:nvSpPr>
        <p:spPr>
          <a:xfrm>
            <a:off x="4572000" y="3364992"/>
            <a:ext cx="2788920" cy="347472"/>
          </a:xfrm>
          <a:prstGeom prst="rect">
            <a:avLst/>
          </a:prstGeom>
          <a:noFill/>
          <a:ln/>
        </p:spPr>
        <p:txBody>
          <a:bodyPr wrap="square" lIns="0" tIns="0" rIns="0" bIns="0" rtlCol="0" anchor="ctr">
            <a:normAutofit/>
          </a:bodyPr>
          <a:lstStyle/>
          <a:p>
            <a:pPr algn="l" indent="0" marL="0">
              <a:buNone/>
            </a:pPr>
            <a:r>
              <a:rPr lang="en-US" sz="1230" dirty="0">
                <a:solidFill>
                  <a:srgbClr val="585858"/>
                </a:solidFill>
                <a:latin typeface="Aptos" pitchFamily="34" charset="0"/>
                <a:ea typeface="Aptos" pitchFamily="34" charset="-122"/>
                <a:cs typeface="Aptos" pitchFamily="34" charset="-120"/>
              </a:rPr>
              <a:t>Geography × drug × year</a:t>
            </a:r>
            <a:endParaRPr lang="en-US" sz="1230" dirty="0"/>
          </a:p>
        </p:txBody>
      </p:sp>
      <p:sp>
        <p:nvSpPr>
          <p:cNvPr id="20" name="Text 18"/>
          <p:cNvSpPr/>
          <p:nvPr/>
        </p:nvSpPr>
        <p:spPr>
          <a:xfrm>
            <a:off x="7498080" y="3364992"/>
            <a:ext cx="3931920" cy="347472"/>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Annual geographic volumes</a:t>
            </a:r>
            <a:endParaRPr lang="en-US" sz="1260" dirty="0"/>
          </a:p>
        </p:txBody>
      </p:sp>
      <p:sp>
        <p:nvSpPr>
          <p:cNvPr id="21" name="Shape 19"/>
          <p:cNvSpPr/>
          <p:nvPr/>
        </p:nvSpPr>
        <p:spPr>
          <a:xfrm>
            <a:off x="594360" y="3840480"/>
            <a:ext cx="10991088" cy="0"/>
          </a:xfrm>
          <a:prstGeom prst="line">
            <a:avLst/>
          </a:prstGeom>
          <a:noFill/>
          <a:ln w="12700">
            <a:solidFill>
              <a:srgbClr val="D8D8D5"/>
            </a:solidFill>
            <a:prstDash val="solid"/>
          </a:ln>
        </p:spPr>
      </p:sp>
      <p:sp>
        <p:nvSpPr>
          <p:cNvPr id="22" name="Text 20">
            <a:hlinkClick r:id="rId3" tooltip=""/>
          </p:cNvPr>
          <p:cNvSpPr/>
          <p:nvPr/>
        </p:nvSpPr>
        <p:spPr>
          <a:xfrm>
            <a:off x="630936" y="3904488"/>
            <a:ext cx="3694176" cy="347472"/>
          </a:xfrm>
          <a:prstGeom prst="rect">
            <a:avLst/>
          </a:prstGeom>
          <a:noFill/>
          <a:ln/>
        </p:spPr>
        <p:txBody>
          <a:bodyPr wrap="square" lIns="0" tIns="0" rIns="0" bIns="0" rtlCol="0" anchor="ctr">
            <a:normAutofit/>
          </a:bodyPr>
          <a:lstStyle/>
          <a:p>
            <a:pPr algn="l" indent="0" marL="0">
              <a:buNone/>
            </a:pPr>
            <a:r>
              <a:rPr lang="en-US" sz="1330" u="sng" dirty="0">
                <a:solidFill>
                  <a:srgbClr val="191919"/>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Medicare Part D · Provider &amp; Drug</a:t>
            </a:r>
            <a:endParaRPr lang="en-US" sz="1330" dirty="0"/>
          </a:p>
        </p:txBody>
      </p:sp>
      <p:sp>
        <p:nvSpPr>
          <p:cNvPr id="23" name="Text 21"/>
          <p:cNvSpPr/>
          <p:nvPr/>
        </p:nvSpPr>
        <p:spPr>
          <a:xfrm>
            <a:off x="4572000" y="3904488"/>
            <a:ext cx="2788920" cy="347472"/>
          </a:xfrm>
          <a:prstGeom prst="rect">
            <a:avLst/>
          </a:prstGeom>
          <a:noFill/>
          <a:ln/>
        </p:spPr>
        <p:txBody>
          <a:bodyPr wrap="square" lIns="0" tIns="0" rIns="0" bIns="0" rtlCol="0" anchor="ctr">
            <a:normAutofit/>
          </a:bodyPr>
          <a:lstStyle/>
          <a:p>
            <a:pPr algn="l" indent="0" marL="0">
              <a:buNone/>
            </a:pPr>
            <a:r>
              <a:rPr lang="en-US" sz="1230" dirty="0">
                <a:solidFill>
                  <a:srgbClr val="585858"/>
                </a:solidFill>
                <a:latin typeface="Aptos" pitchFamily="34" charset="0"/>
                <a:ea typeface="Aptos" pitchFamily="34" charset="-122"/>
                <a:cs typeface="Aptos" pitchFamily="34" charset="-120"/>
              </a:rPr>
              <a:t>Provider × drug × year</a:t>
            </a:r>
            <a:endParaRPr lang="en-US" sz="1230" dirty="0"/>
          </a:p>
        </p:txBody>
      </p:sp>
      <p:sp>
        <p:nvSpPr>
          <p:cNvPr id="24" name="Text 22"/>
          <p:cNvSpPr/>
          <p:nvPr/>
        </p:nvSpPr>
        <p:spPr>
          <a:xfrm>
            <a:off x="7498080" y="3904488"/>
            <a:ext cx="3931920" cy="347472"/>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Prescriber/specialty patterns</a:t>
            </a:r>
            <a:endParaRPr lang="en-US" sz="1260" dirty="0"/>
          </a:p>
        </p:txBody>
      </p:sp>
      <p:sp>
        <p:nvSpPr>
          <p:cNvPr id="25" name="Shape 23"/>
          <p:cNvSpPr/>
          <p:nvPr/>
        </p:nvSpPr>
        <p:spPr>
          <a:xfrm>
            <a:off x="594360" y="4379976"/>
            <a:ext cx="10991088" cy="0"/>
          </a:xfrm>
          <a:prstGeom prst="line">
            <a:avLst/>
          </a:prstGeom>
          <a:noFill/>
          <a:ln w="12700">
            <a:solidFill>
              <a:srgbClr val="D8D8D5"/>
            </a:solidFill>
            <a:prstDash val="solid"/>
          </a:ln>
        </p:spPr>
      </p:sp>
      <p:sp>
        <p:nvSpPr>
          <p:cNvPr id="26" name="Text 24">
            <a:hlinkClick r:id="rId4" tooltip=""/>
          </p:cNvPr>
          <p:cNvSpPr/>
          <p:nvPr/>
        </p:nvSpPr>
        <p:spPr>
          <a:xfrm>
            <a:off x="630936" y="4443984"/>
            <a:ext cx="3694176" cy="347472"/>
          </a:xfrm>
          <a:prstGeom prst="rect">
            <a:avLst/>
          </a:prstGeom>
          <a:noFill/>
          <a:ln/>
        </p:spPr>
        <p:txBody>
          <a:bodyPr wrap="square" lIns="0" tIns="0" rIns="0" bIns="0" rtlCol="0" anchor="ctr">
            <a:normAutofit/>
          </a:bodyPr>
          <a:lstStyle/>
          <a:p>
            <a:pPr algn="l" indent="0" marL="0">
              <a:buNone/>
            </a:pPr>
            <a:r>
              <a:rPr lang="en-US" sz="1330" u="sng" dirty="0">
                <a:solidFill>
                  <a:srgbClr val="191919"/>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CMS Part D Formulary</a:t>
            </a:r>
            <a:endParaRPr lang="en-US" sz="1330" dirty="0"/>
          </a:p>
        </p:txBody>
      </p:sp>
      <p:sp>
        <p:nvSpPr>
          <p:cNvPr id="27" name="Text 25"/>
          <p:cNvSpPr/>
          <p:nvPr/>
        </p:nvSpPr>
        <p:spPr>
          <a:xfrm>
            <a:off x="4572000" y="4443984"/>
            <a:ext cx="2788920" cy="347472"/>
          </a:xfrm>
          <a:prstGeom prst="rect">
            <a:avLst/>
          </a:prstGeom>
          <a:noFill/>
          <a:ln/>
        </p:spPr>
        <p:txBody>
          <a:bodyPr wrap="square" lIns="0" tIns="0" rIns="0" bIns="0" rtlCol="0" anchor="ctr">
            <a:normAutofit/>
          </a:bodyPr>
          <a:lstStyle/>
          <a:p>
            <a:pPr algn="l" indent="0" marL="0">
              <a:buNone/>
            </a:pPr>
            <a:r>
              <a:rPr lang="en-US" sz="1230" dirty="0">
                <a:solidFill>
                  <a:srgbClr val="585858"/>
                </a:solidFill>
                <a:latin typeface="Aptos" pitchFamily="34" charset="0"/>
                <a:ea typeface="Aptos" pitchFamily="34" charset="-122"/>
                <a:cs typeface="Aptos" pitchFamily="34" charset="-120"/>
              </a:rPr>
              <a:t>Plan × drug × month</a:t>
            </a:r>
            <a:endParaRPr lang="en-US" sz="1230" dirty="0"/>
          </a:p>
        </p:txBody>
      </p:sp>
      <p:sp>
        <p:nvSpPr>
          <p:cNvPr id="28" name="Text 26"/>
          <p:cNvSpPr/>
          <p:nvPr/>
        </p:nvSpPr>
        <p:spPr>
          <a:xfrm>
            <a:off x="7498080" y="4443984"/>
            <a:ext cx="3931920" cy="347472"/>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Coverage / tier / PA / step therapy</a:t>
            </a:r>
            <a:endParaRPr lang="en-US" sz="1260" dirty="0"/>
          </a:p>
        </p:txBody>
      </p:sp>
      <p:sp>
        <p:nvSpPr>
          <p:cNvPr id="29" name="Shape 27"/>
          <p:cNvSpPr/>
          <p:nvPr/>
        </p:nvSpPr>
        <p:spPr>
          <a:xfrm>
            <a:off x="594360" y="4919472"/>
            <a:ext cx="10991088" cy="0"/>
          </a:xfrm>
          <a:prstGeom prst="line">
            <a:avLst/>
          </a:prstGeom>
          <a:noFill/>
          <a:ln w="12700">
            <a:solidFill>
              <a:srgbClr val="D8D8D5"/>
            </a:solidFill>
            <a:prstDash val="solid"/>
          </a:ln>
        </p:spPr>
      </p:sp>
      <p:sp>
        <p:nvSpPr>
          <p:cNvPr id="30" name="Text 28">
            <a:hlinkClick r:id="rId5" tooltip=""/>
          </p:cNvPr>
          <p:cNvSpPr/>
          <p:nvPr/>
        </p:nvSpPr>
        <p:spPr>
          <a:xfrm>
            <a:off x="630936" y="4983480"/>
            <a:ext cx="3694176" cy="347472"/>
          </a:xfrm>
          <a:prstGeom prst="rect">
            <a:avLst/>
          </a:prstGeom>
          <a:noFill/>
          <a:ln/>
        </p:spPr>
        <p:txBody>
          <a:bodyPr wrap="square" lIns="0" tIns="0" rIns="0" bIns="0" rtlCol="0" anchor="ctr">
            <a:normAutofit/>
          </a:bodyPr>
          <a:lstStyle/>
          <a:p>
            <a:pPr algn="l" indent="0" marL="0">
              <a:buNone/>
            </a:pPr>
            <a:r>
              <a:rPr lang="en-US" sz="1330" u="sng" dirty="0">
                <a:solidFill>
                  <a:srgbClr val="191919"/>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openFDA NDC</a:t>
            </a:r>
            <a:endParaRPr lang="en-US" sz="1330" dirty="0"/>
          </a:p>
        </p:txBody>
      </p:sp>
      <p:sp>
        <p:nvSpPr>
          <p:cNvPr id="31" name="Text 29"/>
          <p:cNvSpPr/>
          <p:nvPr/>
        </p:nvSpPr>
        <p:spPr>
          <a:xfrm>
            <a:off x="4572000" y="4983480"/>
            <a:ext cx="2788920" cy="347472"/>
          </a:xfrm>
          <a:prstGeom prst="rect">
            <a:avLst/>
          </a:prstGeom>
          <a:noFill/>
          <a:ln/>
        </p:spPr>
        <p:txBody>
          <a:bodyPr wrap="square" lIns="0" tIns="0" rIns="0" bIns="0" rtlCol="0" anchor="ctr">
            <a:normAutofit/>
          </a:bodyPr>
          <a:lstStyle/>
          <a:p>
            <a:pPr algn="l" indent="0" marL="0">
              <a:buNone/>
            </a:pPr>
            <a:r>
              <a:rPr lang="en-US" sz="1230" dirty="0">
                <a:solidFill>
                  <a:srgbClr val="585858"/>
                </a:solidFill>
                <a:latin typeface="Aptos" pitchFamily="34" charset="0"/>
                <a:ea typeface="Aptos" pitchFamily="34" charset="-122"/>
                <a:cs typeface="Aptos" pitchFamily="34" charset="-120"/>
              </a:rPr>
              <a:t>Drug product metadata</a:t>
            </a:r>
            <a:endParaRPr lang="en-US" sz="1230" dirty="0"/>
          </a:p>
        </p:txBody>
      </p:sp>
      <p:sp>
        <p:nvSpPr>
          <p:cNvPr id="32" name="Text 30"/>
          <p:cNvSpPr/>
          <p:nvPr/>
        </p:nvSpPr>
        <p:spPr>
          <a:xfrm>
            <a:off x="7498080" y="4983480"/>
            <a:ext cx="3931920" cy="347472"/>
          </a:xfrm>
          <a:prstGeom prst="rect">
            <a:avLst/>
          </a:prstGeom>
          <a:noFill/>
          <a:ln/>
        </p:spPr>
        <p:txBody>
          <a:bodyPr wrap="square" lIns="0" tIns="0" rIns="0" bIns="0" rtlCol="0" anchor="ctr">
            <a:normAutofit/>
          </a:bodyPr>
          <a:lstStyle/>
          <a:p>
            <a:pPr algn="l" indent="0" marL="0">
              <a:buNone/>
            </a:pPr>
            <a:r>
              <a:rPr lang="en-US" sz="1260" dirty="0">
                <a:solidFill>
                  <a:srgbClr val="343434"/>
                </a:solidFill>
                <a:latin typeface="Aptos" pitchFamily="34" charset="0"/>
                <a:ea typeface="Aptos" pitchFamily="34" charset="-122"/>
                <a:cs typeface="Aptos" pitchFamily="34" charset="-120"/>
              </a:rPr>
              <a:t>Valid drug/product identifiers</a:t>
            </a:r>
            <a:endParaRPr lang="en-US" sz="1260" dirty="0"/>
          </a:p>
        </p:txBody>
      </p:sp>
      <p:sp>
        <p:nvSpPr>
          <p:cNvPr id="33" name="Shape 31"/>
          <p:cNvSpPr/>
          <p:nvPr/>
        </p:nvSpPr>
        <p:spPr>
          <a:xfrm>
            <a:off x="594360" y="5458968"/>
            <a:ext cx="10991088" cy="0"/>
          </a:xfrm>
          <a:prstGeom prst="line">
            <a:avLst/>
          </a:prstGeom>
          <a:noFill/>
          <a:ln w="12700">
            <a:solidFill>
              <a:srgbClr val="D8D8D5"/>
            </a:solidFill>
            <a:prstDash val="solid"/>
          </a:ln>
        </p:spPr>
      </p:sp>
      <p:sp>
        <p:nvSpPr>
          <p:cNvPr id="34" name="Shape 32"/>
          <p:cNvSpPr/>
          <p:nvPr/>
        </p:nvSpPr>
        <p:spPr>
          <a:xfrm>
            <a:off x="612648" y="5742432"/>
            <a:ext cx="10954512" cy="530352"/>
          </a:xfrm>
          <a:prstGeom prst="rect">
            <a:avLst>
              <a:gd name="adj" fmla="val 10345"/>
            </a:avLst>
          </a:prstGeom>
          <a:solidFill>
            <a:srgbClr val="F0F0EE"/>
          </a:solidFill>
          <a:ln w="10795">
            <a:solidFill>
              <a:srgbClr val="D8D8D5"/>
            </a:solidFill>
            <a:prstDash val="solid"/>
          </a:ln>
        </p:spPr>
      </p:sp>
      <p:sp>
        <p:nvSpPr>
          <p:cNvPr id="35" name="Text 33"/>
          <p:cNvSpPr/>
          <p:nvPr/>
        </p:nvSpPr>
        <p:spPr>
          <a:xfrm>
            <a:off x="786384" y="5861304"/>
            <a:ext cx="10607040" cy="265176"/>
          </a:xfrm>
          <a:prstGeom prst="rect">
            <a:avLst/>
          </a:prstGeom>
          <a:noFill/>
          <a:ln/>
        </p:spPr>
        <p:txBody>
          <a:bodyPr wrap="square" lIns="0" tIns="0" rIns="0" bIns="0" rtlCol="0" anchor="ctr">
            <a:normAutofit/>
          </a:bodyPr>
          <a:lstStyle/>
          <a:p>
            <a:pPr algn="l" indent="0" marL="0">
              <a:buNone/>
            </a:pPr>
            <a:r>
              <a:rPr lang="en-US" sz="1300" dirty="0">
                <a:solidFill>
                  <a:srgbClr val="191919"/>
                </a:solidFill>
                <a:latin typeface="Aptos" pitchFamily="34" charset="0"/>
                <a:ea typeface="Aptos" pitchFamily="34" charset="-122"/>
                <a:cs typeface="Aptos" pitchFamily="34" charset="-120"/>
              </a:rPr>
              <a:t>Constraint: quarterly / annual counts cannot reveal true weekly NBRx or commercial-payer behavior.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310896"/>
            <a:ext cx="7315200" cy="201168"/>
          </a:xfrm>
          <a:prstGeom prst="rect">
            <a:avLst/>
          </a:prstGeom>
          <a:noFill/>
          <a:ln/>
        </p:spPr>
        <p:txBody>
          <a:bodyPr wrap="square" lIns="0" tIns="0" rIns="0" bIns="0" rtlCol="0" anchor="ctr">
            <a:normAutofit/>
          </a:bodyPr>
          <a:lstStyle/>
          <a:p>
            <a:pPr algn="l" indent="0" marL="0">
              <a:buNone/>
            </a:pPr>
            <a:r>
              <a:rPr lang="en-US" sz="1000" b="1" spc="160" kern="0" dirty="0">
                <a:solidFill>
                  <a:srgbClr val="737373"/>
                </a:solidFill>
                <a:latin typeface="Aptos" pitchFamily="34" charset="0"/>
                <a:ea typeface="Aptos" pitchFamily="34" charset="-122"/>
                <a:cs typeface="Aptos" pitchFamily="34" charset="-120"/>
              </a:rPr>
              <a:t>PHARMAGENTICS  /  RESEARCH UPDATE</a:t>
            </a:r>
            <a:endParaRPr lang="en-US" sz="1000" dirty="0"/>
          </a:p>
        </p:txBody>
      </p:sp>
      <p:sp>
        <p:nvSpPr>
          <p:cNvPr id="3" name="Text 1"/>
          <p:cNvSpPr/>
          <p:nvPr/>
        </p:nvSpPr>
        <p:spPr>
          <a:xfrm>
            <a:off x="10744200" y="310896"/>
            <a:ext cx="896112" cy="201168"/>
          </a:xfrm>
          <a:prstGeom prst="rect">
            <a:avLst/>
          </a:prstGeom>
          <a:noFill/>
          <a:ln/>
        </p:spPr>
        <p:txBody>
          <a:bodyPr wrap="square" lIns="0" tIns="0" rIns="0" bIns="0" rtlCol="0" anchor="ctr">
            <a:normAutofit/>
          </a:bodyPr>
          <a:lstStyle/>
          <a:p>
            <a:pPr algn="r" indent="0" marL="0">
              <a:buNone/>
            </a:pPr>
            <a:r>
              <a:rPr lang="en-US" sz="1000" dirty="0">
                <a:solidFill>
                  <a:srgbClr val="737373"/>
                </a:solidFill>
                <a:latin typeface="Aptos" pitchFamily="34" charset="0"/>
                <a:ea typeface="Aptos" pitchFamily="34" charset="-122"/>
                <a:cs typeface="Aptos" pitchFamily="34" charset="-120"/>
              </a:rPr>
              <a:t>06 / 06</a:t>
            </a:r>
            <a:endParaRPr lang="en-US" sz="1000" dirty="0"/>
          </a:p>
        </p:txBody>
      </p:sp>
      <p:sp>
        <p:nvSpPr>
          <p:cNvPr id="4" name="Shape 2"/>
          <p:cNvSpPr/>
          <p:nvPr/>
        </p:nvSpPr>
        <p:spPr>
          <a:xfrm>
            <a:off x="548640" y="630936"/>
            <a:ext cx="11082528" cy="0"/>
          </a:xfrm>
          <a:prstGeom prst="line">
            <a:avLst/>
          </a:prstGeom>
          <a:noFill/>
          <a:ln w="12700">
            <a:solidFill>
              <a:srgbClr val="D8D8D5"/>
            </a:solidFill>
            <a:prstDash val="solid"/>
          </a:ln>
        </p:spPr>
      </p:sp>
      <p:sp>
        <p:nvSpPr>
          <p:cNvPr id="5" name="Text 3"/>
          <p:cNvSpPr/>
          <p:nvPr/>
        </p:nvSpPr>
        <p:spPr>
          <a:xfrm>
            <a:off x="548640" y="832104"/>
            <a:ext cx="8229600" cy="182880"/>
          </a:xfrm>
          <a:prstGeom prst="rect">
            <a:avLst/>
          </a:prstGeom>
          <a:noFill/>
          <a:ln/>
        </p:spPr>
        <p:txBody>
          <a:bodyPr wrap="square" lIns="0" tIns="0" rIns="0" bIns="0" rtlCol="0" anchor="ctr">
            <a:normAutofit/>
          </a:bodyPr>
          <a:lstStyle/>
          <a:p>
            <a:pPr algn="l" indent="0" marL="0">
              <a:buNone/>
            </a:pPr>
            <a:r>
              <a:rPr lang="en-US" sz="1050" b="1" spc="140" kern="0" dirty="0">
                <a:solidFill>
                  <a:srgbClr val="585858"/>
                </a:solidFill>
                <a:latin typeface="Aptos" pitchFamily="34" charset="0"/>
                <a:ea typeface="Aptos" pitchFamily="34" charset="-122"/>
                <a:cs typeface="Aptos" pitchFamily="34" charset="-120"/>
              </a:rPr>
              <a:t>NEXT RESEARCH MILESTONE</a:t>
            </a:r>
            <a:endParaRPr lang="en-US" sz="1050" dirty="0"/>
          </a:p>
        </p:txBody>
      </p:sp>
      <p:sp>
        <p:nvSpPr>
          <p:cNvPr id="6" name="Text 4"/>
          <p:cNvSpPr/>
          <p:nvPr/>
        </p:nvSpPr>
        <p:spPr>
          <a:xfrm>
            <a:off x="548640" y="1124712"/>
            <a:ext cx="11064240" cy="521208"/>
          </a:xfrm>
          <a:prstGeom prst="rect">
            <a:avLst/>
          </a:prstGeom>
          <a:noFill/>
          <a:ln/>
        </p:spPr>
        <p:txBody>
          <a:bodyPr wrap="square" lIns="0" tIns="0" rIns="0" bIns="0" rtlCol="0" anchor="ctr">
            <a:normAutofit/>
          </a:bodyPr>
          <a:lstStyle/>
          <a:p>
            <a:pPr algn="l" indent="0" marL="0">
              <a:buNone/>
            </a:pPr>
            <a:r>
              <a:rPr lang="en-US" sz="3050" b="1" dirty="0">
                <a:solidFill>
                  <a:srgbClr val="191919"/>
                </a:solidFill>
                <a:latin typeface="Aptos Display" pitchFamily="34" charset="0"/>
                <a:ea typeface="Aptos Display" pitchFamily="34" charset="-122"/>
                <a:cs typeface="Aptos Display" pitchFamily="34" charset="-120"/>
              </a:rPr>
              <a:t>Make v1 empirically grounded—and test it independently</a:t>
            </a:r>
            <a:endParaRPr lang="en-US" sz="3050" dirty="0"/>
          </a:p>
        </p:txBody>
      </p:sp>
      <p:sp>
        <p:nvSpPr>
          <p:cNvPr id="7" name="Text 5"/>
          <p:cNvSpPr/>
          <p:nvPr/>
        </p:nvSpPr>
        <p:spPr>
          <a:xfrm>
            <a:off x="548640" y="1755648"/>
            <a:ext cx="11018520" cy="411480"/>
          </a:xfrm>
          <a:prstGeom prst="rect">
            <a:avLst/>
          </a:prstGeom>
          <a:noFill/>
          <a:ln/>
        </p:spPr>
        <p:txBody>
          <a:bodyPr wrap="square" lIns="0" tIns="0" rIns="0" bIns="0" rtlCol="0" anchor="ctr">
            <a:normAutofit/>
          </a:bodyPr>
          <a:lstStyle/>
          <a:p>
            <a:pPr algn="l" indent="0" marL="0">
              <a:buNone/>
            </a:pPr>
            <a:r>
              <a:rPr lang="en-US" sz="1400" dirty="0">
                <a:solidFill>
                  <a:srgbClr val="585858"/>
                </a:solidFill>
                <a:latin typeface="Aptos" pitchFamily="34" charset="0"/>
                <a:ea typeface="Aptos" pitchFamily="34" charset="-122"/>
                <a:cs typeface="Aptos" pitchFamily="34" charset="-120"/>
              </a:rPr>
              <a:t>Keep v0 for engineering while calibrating against actual public observations.</a:t>
            </a:r>
            <a:endParaRPr lang="en-US" sz="1400" dirty="0"/>
          </a:p>
        </p:txBody>
      </p:sp>
      <p:sp>
        <p:nvSpPr>
          <p:cNvPr id="8" name="Shape 6"/>
          <p:cNvSpPr/>
          <p:nvPr/>
        </p:nvSpPr>
        <p:spPr>
          <a:xfrm>
            <a:off x="548640" y="6483096"/>
            <a:ext cx="11082528" cy="0"/>
          </a:xfrm>
          <a:prstGeom prst="line">
            <a:avLst/>
          </a:prstGeom>
          <a:noFill/>
          <a:ln w="12700">
            <a:solidFill>
              <a:srgbClr val="D8D8D5"/>
            </a:solidFill>
            <a:prstDash val="solid"/>
          </a:ln>
        </p:spPr>
      </p:sp>
      <p:sp>
        <p:nvSpPr>
          <p:cNvPr id="9" name="Text 7"/>
          <p:cNvSpPr/>
          <p:nvPr/>
        </p:nvSpPr>
        <p:spPr>
          <a:xfrm>
            <a:off x="548640" y="6565392"/>
            <a:ext cx="8229600" cy="146304"/>
          </a:xfrm>
          <a:prstGeom prst="rect">
            <a:avLst/>
          </a:prstGeom>
          <a:noFill/>
          <a:ln/>
        </p:spPr>
        <p:txBody>
          <a:bodyPr wrap="square" lIns="0" tIns="0" rIns="0" bIns="0" rtlCol="0" anchor="ctr">
            <a:normAutofit/>
          </a:bodyPr>
          <a:lstStyle/>
          <a:p>
            <a:pPr algn="l" indent="0" marL="0">
              <a:buNone/>
            </a:pPr>
            <a:r>
              <a:rPr lang="en-US" sz="900" dirty="0">
                <a:solidFill>
                  <a:srgbClr val="737373"/>
                </a:solidFill>
                <a:latin typeface="Aptos" pitchFamily="34" charset="0"/>
                <a:ea typeface="Aptos" pitchFamily="34" charset="-122"/>
                <a:cs typeface="Aptos" pitchFamily="34" charset="-120"/>
              </a:rPr>
              <a:t>SYNTHETIC DATA METHODOLOGY  ·  OCT 2026</a:t>
            </a:r>
            <a:endParaRPr lang="en-US" sz="900" dirty="0"/>
          </a:p>
        </p:txBody>
      </p:sp>
      <p:sp>
        <p:nvSpPr>
          <p:cNvPr id="10" name="Shape 8"/>
          <p:cNvSpPr/>
          <p:nvPr/>
        </p:nvSpPr>
        <p:spPr>
          <a:xfrm>
            <a:off x="594360" y="3218688"/>
            <a:ext cx="5285232" cy="0"/>
          </a:xfrm>
          <a:prstGeom prst="line">
            <a:avLst/>
          </a:prstGeom>
          <a:noFill/>
          <a:ln w="12700">
            <a:solidFill>
              <a:srgbClr val="D8D8D5"/>
            </a:solidFill>
            <a:prstDash val="solid"/>
          </a:ln>
        </p:spPr>
      </p:sp>
      <p:sp>
        <p:nvSpPr>
          <p:cNvPr id="11" name="Text 9"/>
          <p:cNvSpPr/>
          <p:nvPr/>
        </p:nvSpPr>
        <p:spPr>
          <a:xfrm>
            <a:off x="594360" y="2414016"/>
            <a:ext cx="411480" cy="338328"/>
          </a:xfrm>
          <a:prstGeom prst="rect">
            <a:avLst/>
          </a:prstGeom>
          <a:noFill/>
          <a:ln/>
        </p:spPr>
        <p:txBody>
          <a:bodyPr wrap="square" lIns="0" tIns="0" rIns="0" bIns="0" rtlCol="0" anchor="ctr">
            <a:normAutofit/>
          </a:bodyPr>
          <a:lstStyle/>
          <a:p>
            <a:pPr algn="l" indent="0" marL="0">
              <a:buNone/>
            </a:pPr>
            <a:r>
              <a:rPr lang="en-US" sz="2000" b="1" dirty="0">
                <a:solidFill>
                  <a:srgbClr val="191919"/>
                </a:solidFill>
                <a:latin typeface="Aptos" pitchFamily="34" charset="0"/>
                <a:ea typeface="Aptos" pitchFamily="34" charset="-122"/>
                <a:cs typeface="Aptos" pitchFamily="34" charset="-120"/>
              </a:rPr>
              <a:t>01</a:t>
            </a:r>
            <a:endParaRPr lang="en-US" sz="2000" dirty="0"/>
          </a:p>
        </p:txBody>
      </p:sp>
      <p:sp>
        <p:nvSpPr>
          <p:cNvPr id="12" name="Text 10"/>
          <p:cNvSpPr/>
          <p:nvPr/>
        </p:nvSpPr>
        <p:spPr>
          <a:xfrm>
            <a:off x="1179576" y="2414016"/>
            <a:ext cx="4636008" cy="338328"/>
          </a:xfrm>
          <a:prstGeom prst="rect">
            <a:avLst/>
          </a:prstGeom>
          <a:noFill/>
          <a:ln/>
        </p:spPr>
        <p:txBody>
          <a:bodyPr wrap="square" lIns="0" tIns="0" rIns="0" bIns="0" rtlCol="0" anchor="ctr">
            <a:normAutofit/>
          </a:bodyPr>
          <a:lstStyle/>
          <a:p>
            <a:pPr algn="l" indent="0" marL="0">
              <a:buNone/>
            </a:pPr>
            <a:r>
              <a:rPr lang="en-US" sz="1500" b="1" dirty="0">
                <a:solidFill>
                  <a:srgbClr val="191919"/>
                </a:solidFill>
                <a:latin typeface="Aptos" pitchFamily="34" charset="0"/>
                <a:ea typeface="Aptos" pitchFamily="34" charset="-122"/>
                <a:cs typeface="Aptos" pitchFamily="34" charset="-120"/>
              </a:rPr>
              <a:t>Select a drug class + competitor basket</a:t>
            </a:r>
            <a:endParaRPr lang="en-US" sz="1500" dirty="0"/>
          </a:p>
        </p:txBody>
      </p:sp>
      <p:sp>
        <p:nvSpPr>
          <p:cNvPr id="13" name="Text 11"/>
          <p:cNvSpPr/>
          <p:nvPr/>
        </p:nvSpPr>
        <p:spPr>
          <a:xfrm>
            <a:off x="1179576" y="2807208"/>
            <a:ext cx="4617720" cy="310896"/>
          </a:xfrm>
          <a:prstGeom prst="rect">
            <a:avLst/>
          </a:prstGeom>
          <a:noFill/>
          <a:ln/>
        </p:spPr>
        <p:txBody>
          <a:bodyPr wrap="square" lIns="0" tIns="0" rIns="0" bIns="0" rtlCol="0" anchor="ctr">
            <a:normAutofit/>
          </a:bodyPr>
          <a:lstStyle/>
          <a:p>
            <a:pPr algn="l" indent="0" marL="0">
              <a:buNone/>
            </a:pPr>
            <a:r>
              <a:rPr lang="en-US" sz="1180" dirty="0">
                <a:solidFill>
                  <a:srgbClr val="585858"/>
                </a:solidFill>
                <a:latin typeface="Aptos" pitchFamily="34" charset="0"/>
                <a:ea typeface="Aptos" pitchFamily="34" charset="-122"/>
                <a:cs typeface="Aptos" pitchFamily="34" charset="-120"/>
              </a:rPr>
              <a:t>Map NDCs and define the covered population.</a:t>
            </a:r>
            <a:endParaRPr lang="en-US" sz="1180" dirty="0"/>
          </a:p>
        </p:txBody>
      </p:sp>
      <p:sp>
        <p:nvSpPr>
          <p:cNvPr id="14" name="Shape 12"/>
          <p:cNvSpPr/>
          <p:nvPr/>
        </p:nvSpPr>
        <p:spPr>
          <a:xfrm>
            <a:off x="6163056" y="3218688"/>
            <a:ext cx="5285232" cy="0"/>
          </a:xfrm>
          <a:prstGeom prst="line">
            <a:avLst/>
          </a:prstGeom>
          <a:noFill/>
          <a:ln w="12700">
            <a:solidFill>
              <a:srgbClr val="D8D8D5"/>
            </a:solidFill>
            <a:prstDash val="solid"/>
          </a:ln>
        </p:spPr>
      </p:sp>
      <p:sp>
        <p:nvSpPr>
          <p:cNvPr id="15" name="Text 13"/>
          <p:cNvSpPr/>
          <p:nvPr/>
        </p:nvSpPr>
        <p:spPr>
          <a:xfrm>
            <a:off x="6163056" y="2414016"/>
            <a:ext cx="411480" cy="338328"/>
          </a:xfrm>
          <a:prstGeom prst="rect">
            <a:avLst/>
          </a:prstGeom>
          <a:noFill/>
          <a:ln/>
        </p:spPr>
        <p:txBody>
          <a:bodyPr wrap="square" lIns="0" tIns="0" rIns="0" bIns="0" rtlCol="0" anchor="ctr">
            <a:normAutofit/>
          </a:bodyPr>
          <a:lstStyle/>
          <a:p>
            <a:pPr algn="l" indent="0" marL="0">
              <a:buNone/>
            </a:pPr>
            <a:r>
              <a:rPr lang="en-US" sz="2000" b="1" dirty="0">
                <a:solidFill>
                  <a:srgbClr val="191919"/>
                </a:solidFill>
                <a:latin typeface="Aptos" pitchFamily="34" charset="0"/>
                <a:ea typeface="Aptos" pitchFamily="34" charset="-122"/>
                <a:cs typeface="Aptos" pitchFamily="34" charset="-120"/>
              </a:rPr>
              <a:t>02</a:t>
            </a:r>
            <a:endParaRPr lang="en-US" sz="2000" dirty="0"/>
          </a:p>
        </p:txBody>
      </p:sp>
      <p:sp>
        <p:nvSpPr>
          <p:cNvPr id="16" name="Text 14"/>
          <p:cNvSpPr/>
          <p:nvPr/>
        </p:nvSpPr>
        <p:spPr>
          <a:xfrm>
            <a:off x="6748272" y="2414016"/>
            <a:ext cx="4636008" cy="338328"/>
          </a:xfrm>
          <a:prstGeom prst="rect">
            <a:avLst/>
          </a:prstGeom>
          <a:noFill/>
          <a:ln/>
        </p:spPr>
        <p:txBody>
          <a:bodyPr wrap="square" lIns="0" tIns="0" rIns="0" bIns="0" rtlCol="0" anchor="ctr">
            <a:normAutofit/>
          </a:bodyPr>
          <a:lstStyle/>
          <a:p>
            <a:pPr algn="l" indent="0" marL="0">
              <a:buNone/>
            </a:pPr>
            <a:r>
              <a:rPr lang="en-US" sz="1500" b="1" dirty="0">
                <a:solidFill>
                  <a:srgbClr val="191919"/>
                </a:solidFill>
                <a:latin typeface="Aptos" pitchFamily="34" charset="0"/>
                <a:ea typeface="Aptos" pitchFamily="34" charset="-122"/>
                <a:cs typeface="Aptos" pitchFamily="34" charset="-120"/>
              </a:rPr>
              <a:t>Download and preserve authentic extracts</a:t>
            </a:r>
            <a:endParaRPr lang="en-US" sz="1500" dirty="0"/>
          </a:p>
        </p:txBody>
      </p:sp>
      <p:sp>
        <p:nvSpPr>
          <p:cNvPr id="17" name="Text 15"/>
          <p:cNvSpPr/>
          <p:nvPr/>
        </p:nvSpPr>
        <p:spPr>
          <a:xfrm>
            <a:off x="6748272" y="2807208"/>
            <a:ext cx="4617720" cy="310896"/>
          </a:xfrm>
          <a:prstGeom prst="rect">
            <a:avLst/>
          </a:prstGeom>
          <a:noFill/>
          <a:ln/>
        </p:spPr>
        <p:txBody>
          <a:bodyPr wrap="square" lIns="0" tIns="0" rIns="0" bIns="0" rtlCol="0" anchor="ctr">
            <a:normAutofit/>
          </a:bodyPr>
          <a:lstStyle/>
          <a:p>
            <a:pPr algn="l" indent="0" marL="0">
              <a:buNone/>
            </a:pPr>
            <a:r>
              <a:rPr lang="en-US" sz="1180" dirty="0">
                <a:solidFill>
                  <a:srgbClr val="585858"/>
                </a:solidFill>
                <a:latin typeface="Aptos" pitchFamily="34" charset="0"/>
                <a:ea typeface="Aptos" pitchFamily="34" charset="-122"/>
                <a:cs typeface="Aptos" pitchFamily="34" charset="-120"/>
              </a:rPr>
              <a:t>Record reporting years, retrieval dates and filters.</a:t>
            </a:r>
            <a:endParaRPr lang="en-US" sz="1180" dirty="0"/>
          </a:p>
        </p:txBody>
      </p:sp>
      <p:sp>
        <p:nvSpPr>
          <p:cNvPr id="18" name="Shape 16"/>
          <p:cNvSpPr/>
          <p:nvPr/>
        </p:nvSpPr>
        <p:spPr>
          <a:xfrm>
            <a:off x="594360" y="4270248"/>
            <a:ext cx="5285232" cy="0"/>
          </a:xfrm>
          <a:prstGeom prst="line">
            <a:avLst/>
          </a:prstGeom>
          <a:noFill/>
          <a:ln w="12700">
            <a:solidFill>
              <a:srgbClr val="D8D8D5"/>
            </a:solidFill>
            <a:prstDash val="solid"/>
          </a:ln>
        </p:spPr>
      </p:sp>
      <p:sp>
        <p:nvSpPr>
          <p:cNvPr id="19" name="Text 17"/>
          <p:cNvSpPr/>
          <p:nvPr/>
        </p:nvSpPr>
        <p:spPr>
          <a:xfrm>
            <a:off x="594360" y="3465576"/>
            <a:ext cx="411480" cy="338328"/>
          </a:xfrm>
          <a:prstGeom prst="rect">
            <a:avLst/>
          </a:prstGeom>
          <a:noFill/>
          <a:ln/>
        </p:spPr>
        <p:txBody>
          <a:bodyPr wrap="square" lIns="0" tIns="0" rIns="0" bIns="0" rtlCol="0" anchor="ctr">
            <a:normAutofit/>
          </a:bodyPr>
          <a:lstStyle/>
          <a:p>
            <a:pPr algn="l" indent="0" marL="0">
              <a:buNone/>
            </a:pPr>
            <a:r>
              <a:rPr lang="en-US" sz="2000" b="1" dirty="0">
                <a:solidFill>
                  <a:srgbClr val="191919"/>
                </a:solidFill>
                <a:latin typeface="Aptos" pitchFamily="34" charset="0"/>
                <a:ea typeface="Aptos" pitchFamily="34" charset="-122"/>
                <a:cs typeface="Aptos" pitchFamily="34" charset="-120"/>
              </a:rPr>
              <a:t>03</a:t>
            </a:r>
            <a:endParaRPr lang="en-US" sz="2000" dirty="0"/>
          </a:p>
        </p:txBody>
      </p:sp>
      <p:sp>
        <p:nvSpPr>
          <p:cNvPr id="20" name="Text 18"/>
          <p:cNvSpPr/>
          <p:nvPr/>
        </p:nvSpPr>
        <p:spPr>
          <a:xfrm>
            <a:off x="1179576" y="3465576"/>
            <a:ext cx="4636008" cy="338328"/>
          </a:xfrm>
          <a:prstGeom prst="rect">
            <a:avLst/>
          </a:prstGeom>
          <a:noFill/>
          <a:ln/>
        </p:spPr>
        <p:txBody>
          <a:bodyPr wrap="square" lIns="0" tIns="0" rIns="0" bIns="0" rtlCol="0" anchor="ctr">
            <a:normAutofit/>
          </a:bodyPr>
          <a:lstStyle/>
          <a:p>
            <a:pPr algn="l" indent="0" marL="0">
              <a:buNone/>
            </a:pPr>
            <a:r>
              <a:rPr lang="en-US" sz="1500" b="1" dirty="0">
                <a:solidFill>
                  <a:srgbClr val="191919"/>
                </a:solidFill>
                <a:latin typeface="Aptos" pitchFamily="34" charset="0"/>
                <a:ea typeface="Aptos" pitchFamily="34" charset="-122"/>
                <a:cs typeface="Aptos" pitchFamily="34" charset="-120"/>
              </a:rPr>
              <a:t>Estimate population-specific targets</a:t>
            </a:r>
            <a:endParaRPr lang="en-US" sz="1500" dirty="0"/>
          </a:p>
        </p:txBody>
      </p:sp>
      <p:sp>
        <p:nvSpPr>
          <p:cNvPr id="21" name="Text 19"/>
          <p:cNvSpPr/>
          <p:nvPr/>
        </p:nvSpPr>
        <p:spPr>
          <a:xfrm>
            <a:off x="1179576" y="3858768"/>
            <a:ext cx="4617720" cy="310896"/>
          </a:xfrm>
          <a:prstGeom prst="rect">
            <a:avLst/>
          </a:prstGeom>
          <a:noFill/>
          <a:ln/>
        </p:spPr>
        <p:txBody>
          <a:bodyPr wrap="square" lIns="0" tIns="0" rIns="0" bIns="0" rtlCol="0" anchor="ctr">
            <a:normAutofit/>
          </a:bodyPr>
          <a:lstStyle/>
          <a:p>
            <a:pPr algn="l" indent="0" marL="0">
              <a:buNone/>
            </a:pPr>
            <a:r>
              <a:rPr lang="en-US" sz="1180" dirty="0">
                <a:solidFill>
                  <a:srgbClr val="585858"/>
                </a:solidFill>
                <a:latin typeface="Aptos" pitchFamily="34" charset="0"/>
                <a:ea typeface="Aptos" pitchFamily="34" charset="-122"/>
                <a:cs typeface="Aptos" pitchFamily="34" charset="-120"/>
              </a:rPr>
              <a:t>Fit counts, state mix, dispersion and trends.</a:t>
            </a:r>
            <a:endParaRPr lang="en-US" sz="1180" dirty="0"/>
          </a:p>
        </p:txBody>
      </p:sp>
      <p:sp>
        <p:nvSpPr>
          <p:cNvPr id="22" name="Shape 20"/>
          <p:cNvSpPr/>
          <p:nvPr/>
        </p:nvSpPr>
        <p:spPr>
          <a:xfrm>
            <a:off x="6163056" y="4270248"/>
            <a:ext cx="5285232" cy="0"/>
          </a:xfrm>
          <a:prstGeom prst="line">
            <a:avLst/>
          </a:prstGeom>
          <a:noFill/>
          <a:ln w="12700">
            <a:solidFill>
              <a:srgbClr val="D8D8D5"/>
            </a:solidFill>
            <a:prstDash val="solid"/>
          </a:ln>
        </p:spPr>
      </p:sp>
      <p:sp>
        <p:nvSpPr>
          <p:cNvPr id="23" name="Text 21"/>
          <p:cNvSpPr/>
          <p:nvPr/>
        </p:nvSpPr>
        <p:spPr>
          <a:xfrm>
            <a:off x="6163056" y="3465576"/>
            <a:ext cx="411480" cy="338328"/>
          </a:xfrm>
          <a:prstGeom prst="rect">
            <a:avLst/>
          </a:prstGeom>
          <a:noFill/>
          <a:ln/>
        </p:spPr>
        <p:txBody>
          <a:bodyPr wrap="square" lIns="0" tIns="0" rIns="0" bIns="0" rtlCol="0" anchor="ctr">
            <a:normAutofit/>
          </a:bodyPr>
          <a:lstStyle/>
          <a:p>
            <a:pPr algn="l" indent="0" marL="0">
              <a:buNone/>
            </a:pPr>
            <a:r>
              <a:rPr lang="en-US" sz="2000" b="1" dirty="0">
                <a:solidFill>
                  <a:srgbClr val="191919"/>
                </a:solidFill>
                <a:latin typeface="Aptos" pitchFamily="34" charset="0"/>
                <a:ea typeface="Aptos" pitchFamily="34" charset="-122"/>
                <a:cs typeface="Aptos" pitchFamily="34" charset="-120"/>
              </a:rPr>
              <a:t>04</a:t>
            </a:r>
            <a:endParaRPr lang="en-US" sz="2000" dirty="0"/>
          </a:p>
        </p:txBody>
      </p:sp>
      <p:sp>
        <p:nvSpPr>
          <p:cNvPr id="24" name="Text 22"/>
          <p:cNvSpPr/>
          <p:nvPr/>
        </p:nvSpPr>
        <p:spPr>
          <a:xfrm>
            <a:off x="6748272" y="3465576"/>
            <a:ext cx="4636008" cy="338328"/>
          </a:xfrm>
          <a:prstGeom prst="rect">
            <a:avLst/>
          </a:prstGeom>
          <a:noFill/>
          <a:ln/>
        </p:spPr>
        <p:txBody>
          <a:bodyPr wrap="square" lIns="0" tIns="0" rIns="0" bIns="0" rtlCol="0" anchor="ctr">
            <a:normAutofit/>
          </a:bodyPr>
          <a:lstStyle/>
          <a:p>
            <a:pPr algn="l" indent="0" marL="0">
              <a:buNone/>
            </a:pPr>
            <a:r>
              <a:rPr lang="en-US" sz="1500" b="1" dirty="0">
                <a:solidFill>
                  <a:srgbClr val="191919"/>
                </a:solidFill>
                <a:latin typeface="Aptos" pitchFamily="34" charset="0"/>
                <a:ea typeface="Aptos" pitchFamily="34" charset="-122"/>
                <a:cs typeface="Aptos" pitchFamily="34" charset="-120"/>
              </a:rPr>
              <a:t>Generate constrained synthetic weeks</a:t>
            </a:r>
            <a:endParaRPr lang="en-US" sz="1500" dirty="0"/>
          </a:p>
        </p:txBody>
      </p:sp>
      <p:sp>
        <p:nvSpPr>
          <p:cNvPr id="25" name="Text 23"/>
          <p:cNvSpPr/>
          <p:nvPr/>
        </p:nvSpPr>
        <p:spPr>
          <a:xfrm>
            <a:off x="6748272" y="3858768"/>
            <a:ext cx="4617720" cy="310896"/>
          </a:xfrm>
          <a:prstGeom prst="rect">
            <a:avLst/>
          </a:prstGeom>
          <a:noFill/>
          <a:ln/>
        </p:spPr>
        <p:txBody>
          <a:bodyPr wrap="square" lIns="0" tIns="0" rIns="0" bIns="0" rtlCol="0" anchor="ctr">
            <a:normAutofit/>
          </a:bodyPr>
          <a:lstStyle/>
          <a:p>
            <a:pPr algn="l" indent="0" marL="0">
              <a:buNone/>
            </a:pPr>
            <a:r>
              <a:rPr lang="en-US" sz="1180" dirty="0">
                <a:solidFill>
                  <a:srgbClr val="585858"/>
                </a:solidFill>
                <a:latin typeface="Aptos" pitchFamily="34" charset="0"/>
                <a:ea typeface="Aptos" pitchFamily="34" charset="-122"/>
                <a:cs typeface="Aptos" pitchFamily="34" charset="-120"/>
              </a:rPr>
              <a:t>Preserve quarterly totals; vary unobserved weekly paths.</a:t>
            </a:r>
            <a:endParaRPr lang="en-US" sz="1180" dirty="0"/>
          </a:p>
        </p:txBody>
      </p:sp>
      <p:sp>
        <p:nvSpPr>
          <p:cNvPr id="26" name="Shape 24"/>
          <p:cNvSpPr/>
          <p:nvPr/>
        </p:nvSpPr>
        <p:spPr>
          <a:xfrm>
            <a:off x="594360" y="5321808"/>
            <a:ext cx="5285232" cy="0"/>
          </a:xfrm>
          <a:prstGeom prst="line">
            <a:avLst/>
          </a:prstGeom>
          <a:noFill/>
          <a:ln w="12700">
            <a:solidFill>
              <a:srgbClr val="D8D8D5"/>
            </a:solidFill>
            <a:prstDash val="solid"/>
          </a:ln>
        </p:spPr>
      </p:sp>
      <p:sp>
        <p:nvSpPr>
          <p:cNvPr id="27" name="Text 25"/>
          <p:cNvSpPr/>
          <p:nvPr/>
        </p:nvSpPr>
        <p:spPr>
          <a:xfrm>
            <a:off x="594360" y="4517136"/>
            <a:ext cx="411480" cy="338328"/>
          </a:xfrm>
          <a:prstGeom prst="rect">
            <a:avLst/>
          </a:prstGeom>
          <a:noFill/>
          <a:ln/>
        </p:spPr>
        <p:txBody>
          <a:bodyPr wrap="square" lIns="0" tIns="0" rIns="0" bIns="0" rtlCol="0" anchor="ctr">
            <a:normAutofit/>
          </a:bodyPr>
          <a:lstStyle/>
          <a:p>
            <a:pPr algn="l" indent="0" marL="0">
              <a:buNone/>
            </a:pPr>
            <a:r>
              <a:rPr lang="en-US" sz="2000" b="1" dirty="0">
                <a:solidFill>
                  <a:srgbClr val="191919"/>
                </a:solidFill>
                <a:latin typeface="Aptos" pitchFamily="34" charset="0"/>
                <a:ea typeface="Aptos" pitchFamily="34" charset="-122"/>
                <a:cs typeface="Aptos" pitchFamily="34" charset="-120"/>
              </a:rPr>
              <a:t>05</a:t>
            </a:r>
            <a:endParaRPr lang="en-US" sz="2000" dirty="0"/>
          </a:p>
        </p:txBody>
      </p:sp>
      <p:sp>
        <p:nvSpPr>
          <p:cNvPr id="28" name="Text 26"/>
          <p:cNvSpPr/>
          <p:nvPr/>
        </p:nvSpPr>
        <p:spPr>
          <a:xfrm>
            <a:off x="1179576" y="4517136"/>
            <a:ext cx="4636008" cy="338328"/>
          </a:xfrm>
          <a:prstGeom prst="rect">
            <a:avLst/>
          </a:prstGeom>
          <a:noFill/>
          <a:ln/>
        </p:spPr>
        <p:txBody>
          <a:bodyPr wrap="square" lIns="0" tIns="0" rIns="0" bIns="0" rtlCol="0" anchor="ctr">
            <a:normAutofit/>
          </a:bodyPr>
          <a:lstStyle/>
          <a:p>
            <a:pPr algn="l" indent="0" marL="0">
              <a:buNone/>
            </a:pPr>
            <a:r>
              <a:rPr lang="en-US" sz="1500" b="1" dirty="0">
                <a:solidFill>
                  <a:srgbClr val="191919"/>
                </a:solidFill>
                <a:latin typeface="Aptos" pitchFamily="34" charset="0"/>
                <a:ea typeface="Aptos" pitchFamily="34" charset="-122"/>
                <a:cs typeface="Aptos" pitchFamily="34" charset="-120"/>
              </a:rPr>
              <a:t>Validate on held-out real observations</a:t>
            </a:r>
            <a:endParaRPr lang="en-US" sz="1500" dirty="0"/>
          </a:p>
        </p:txBody>
      </p:sp>
      <p:sp>
        <p:nvSpPr>
          <p:cNvPr id="29" name="Text 27"/>
          <p:cNvSpPr/>
          <p:nvPr/>
        </p:nvSpPr>
        <p:spPr>
          <a:xfrm>
            <a:off x="1179576" y="4910328"/>
            <a:ext cx="4617720" cy="310896"/>
          </a:xfrm>
          <a:prstGeom prst="rect">
            <a:avLst/>
          </a:prstGeom>
          <a:noFill/>
          <a:ln/>
        </p:spPr>
        <p:txBody>
          <a:bodyPr wrap="square" lIns="0" tIns="0" rIns="0" bIns="0" rtlCol="0" anchor="ctr">
            <a:normAutofit/>
          </a:bodyPr>
          <a:lstStyle/>
          <a:p>
            <a:pPr algn="l" indent="0" marL="0">
              <a:buNone/>
            </a:pPr>
            <a:r>
              <a:rPr lang="en-US" sz="1180" dirty="0">
                <a:solidFill>
                  <a:srgbClr val="585858"/>
                </a:solidFill>
                <a:latin typeface="Aptos" pitchFamily="34" charset="0"/>
                <a:ea typeface="Aptos" pitchFamily="34" charset="-122"/>
                <a:cs typeface="Aptos" pitchFamily="34" charset="-120"/>
              </a:rPr>
              <a:t>Measure distribution and trend fit before agent claims.</a:t>
            </a:r>
            <a:endParaRPr lang="en-US" sz="1180" dirty="0"/>
          </a:p>
        </p:txBody>
      </p:sp>
      <p:sp>
        <p:nvSpPr>
          <p:cNvPr id="30" name="Shape 28"/>
          <p:cNvSpPr/>
          <p:nvPr/>
        </p:nvSpPr>
        <p:spPr>
          <a:xfrm>
            <a:off x="6163056" y="5321808"/>
            <a:ext cx="5285232" cy="0"/>
          </a:xfrm>
          <a:prstGeom prst="line">
            <a:avLst/>
          </a:prstGeom>
          <a:noFill/>
          <a:ln w="12700">
            <a:solidFill>
              <a:srgbClr val="D8D8D5"/>
            </a:solidFill>
            <a:prstDash val="solid"/>
          </a:ln>
        </p:spPr>
      </p:sp>
      <p:sp>
        <p:nvSpPr>
          <p:cNvPr id="31" name="Text 29"/>
          <p:cNvSpPr/>
          <p:nvPr/>
        </p:nvSpPr>
        <p:spPr>
          <a:xfrm>
            <a:off x="6163056" y="4517136"/>
            <a:ext cx="411480" cy="338328"/>
          </a:xfrm>
          <a:prstGeom prst="rect">
            <a:avLst/>
          </a:prstGeom>
          <a:noFill/>
          <a:ln/>
        </p:spPr>
        <p:txBody>
          <a:bodyPr wrap="square" lIns="0" tIns="0" rIns="0" bIns="0" rtlCol="0" anchor="ctr">
            <a:normAutofit/>
          </a:bodyPr>
          <a:lstStyle/>
          <a:p>
            <a:pPr algn="l" indent="0" marL="0">
              <a:buNone/>
            </a:pPr>
            <a:r>
              <a:rPr lang="en-US" sz="2000" b="1" dirty="0">
                <a:solidFill>
                  <a:srgbClr val="191919"/>
                </a:solidFill>
                <a:latin typeface="Aptos" pitchFamily="34" charset="0"/>
                <a:ea typeface="Aptos" pitchFamily="34" charset="-122"/>
                <a:cs typeface="Aptos" pitchFamily="34" charset="-120"/>
              </a:rPr>
              <a:t>06</a:t>
            </a:r>
            <a:endParaRPr lang="en-US" sz="2000" dirty="0"/>
          </a:p>
        </p:txBody>
      </p:sp>
      <p:sp>
        <p:nvSpPr>
          <p:cNvPr id="32" name="Text 30"/>
          <p:cNvSpPr/>
          <p:nvPr/>
        </p:nvSpPr>
        <p:spPr>
          <a:xfrm>
            <a:off x="6748272" y="4517136"/>
            <a:ext cx="4636008" cy="338328"/>
          </a:xfrm>
          <a:prstGeom prst="rect">
            <a:avLst/>
          </a:prstGeom>
          <a:noFill/>
          <a:ln/>
        </p:spPr>
        <p:txBody>
          <a:bodyPr wrap="square" lIns="0" tIns="0" rIns="0" bIns="0" rtlCol="0" anchor="ctr">
            <a:normAutofit/>
          </a:bodyPr>
          <a:lstStyle/>
          <a:p>
            <a:pPr algn="l" indent="0" marL="0">
              <a:buNone/>
            </a:pPr>
            <a:r>
              <a:rPr lang="en-US" sz="1500" b="1" dirty="0">
                <a:solidFill>
                  <a:srgbClr val="191919"/>
                </a:solidFill>
                <a:latin typeface="Aptos" pitchFamily="34" charset="0"/>
                <a:ea typeface="Aptos" pitchFamily="34" charset="-122"/>
                <a:cs typeface="Aptos" pitchFamily="34" charset="-120"/>
              </a:rPr>
              <a:t>Run hidden-event agent evaluation</a:t>
            </a:r>
            <a:endParaRPr lang="en-US" sz="1500" dirty="0"/>
          </a:p>
        </p:txBody>
      </p:sp>
      <p:sp>
        <p:nvSpPr>
          <p:cNvPr id="33" name="Text 31"/>
          <p:cNvSpPr/>
          <p:nvPr/>
        </p:nvSpPr>
        <p:spPr>
          <a:xfrm>
            <a:off x="6748272" y="4910328"/>
            <a:ext cx="4617720" cy="310896"/>
          </a:xfrm>
          <a:prstGeom prst="rect">
            <a:avLst/>
          </a:prstGeom>
          <a:noFill/>
          <a:ln/>
        </p:spPr>
        <p:txBody>
          <a:bodyPr wrap="square" lIns="0" tIns="0" rIns="0" bIns="0" rtlCol="0" anchor="ctr">
            <a:normAutofit/>
          </a:bodyPr>
          <a:lstStyle/>
          <a:p>
            <a:pPr algn="l" indent="0" marL="0">
              <a:buNone/>
            </a:pPr>
            <a:r>
              <a:rPr lang="en-US" sz="1180" dirty="0">
                <a:solidFill>
                  <a:srgbClr val="585858"/>
                </a:solidFill>
                <a:latin typeface="Aptos" pitchFamily="34" charset="0"/>
                <a:ea typeface="Aptos" pitchFamily="34" charset="-122"/>
                <a:cs typeface="Aptos" pitchFamily="34" charset="-120"/>
              </a:rPr>
              <a:t>Measure detection, false alerts, evidence and abstention.</a:t>
            </a:r>
            <a:endParaRPr lang="en-US" sz="1180" dirty="0"/>
          </a:p>
        </p:txBody>
      </p:sp>
      <p:sp>
        <p:nvSpPr>
          <p:cNvPr id="34" name="Shape 32"/>
          <p:cNvSpPr/>
          <p:nvPr/>
        </p:nvSpPr>
        <p:spPr>
          <a:xfrm>
            <a:off x="594360" y="5705856"/>
            <a:ext cx="11018520" cy="566928"/>
          </a:xfrm>
          <a:prstGeom prst="rect">
            <a:avLst>
              <a:gd name="adj" fmla="val 9677"/>
            </a:avLst>
          </a:prstGeom>
          <a:solidFill>
            <a:srgbClr val="F0F0EE"/>
          </a:solidFill>
          <a:ln w="10795">
            <a:solidFill>
              <a:srgbClr val="D8D8D5"/>
            </a:solidFill>
            <a:prstDash val="solid"/>
          </a:ln>
        </p:spPr>
      </p:sp>
      <p:sp>
        <p:nvSpPr>
          <p:cNvPr id="35" name="Text 33"/>
          <p:cNvSpPr/>
          <p:nvPr/>
        </p:nvSpPr>
        <p:spPr>
          <a:xfrm>
            <a:off x="832104" y="5852160"/>
            <a:ext cx="10570464" cy="274320"/>
          </a:xfrm>
          <a:prstGeom prst="rect">
            <a:avLst/>
          </a:prstGeom>
          <a:noFill/>
          <a:ln/>
        </p:spPr>
        <p:txBody>
          <a:bodyPr wrap="square" lIns="0" tIns="0" rIns="0" bIns="0" rtlCol="0" anchor="ctr">
            <a:normAutofit/>
          </a:bodyPr>
          <a:lstStyle/>
          <a:p>
            <a:pPr algn="l" indent="0" marL="0">
              <a:buNone/>
            </a:pPr>
            <a:r>
              <a:rPr lang="en-US" sz="1450" b="1" dirty="0">
                <a:solidFill>
                  <a:srgbClr val="191919"/>
                </a:solidFill>
                <a:latin typeface="Aptos" pitchFamily="34" charset="0"/>
                <a:ea typeface="Aptos" pitchFamily="34" charset="-122"/>
                <a:cs typeface="Aptos" pitchFamily="34" charset="-120"/>
              </a:rPr>
              <a:t>Decision today: comparator class  /  data-ingestion owner  /  parallel v0 engineering</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Applied AI in Life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PharmAgentics — Synthetic Data Research: 5 Minute Brief</dc:title>
  <dc:subject>Five-minute update: synthetic data generation and empirical calibration</dc:subject>
  <dc:creator>PharmAgentics</dc:creator>
  <cp:lastModifiedBy>PharmAgentics</cp:lastModifiedBy>
  <cp:revision>1</cp:revision>
  <dcterms:created xsi:type="dcterms:W3CDTF">2026-10-16T15:26:46Z</dcterms:created>
  <dcterms:modified xsi:type="dcterms:W3CDTF">2026-10-16T15:26:46Z</dcterms:modified>
</cp:coreProperties>
</file>